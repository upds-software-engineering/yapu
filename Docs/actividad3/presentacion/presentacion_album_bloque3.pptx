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EMMANUEL (15 s). Buenos días, ingeniero Requena. Somos Emmanuel Ponce, Jhoel Cruz y Luis Mario Rocha, y les presentamos el Álbum de Modelos UML del Bloque 3 de YAPU, nuestra plataforma para aprender quechua.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EMMANUEL (40 s). El problema que atacamos es la pérdida del quechua en comunidades de Chuquisaca donde la señal se corta seguido y los estudiantes usan teléfonos económicos. Nuestra respuesta es una PWA: una aplicación web que se instala como app y sigue funcionando sin conexión. Tiene lecciones, niveles y rachas para motivar, y un motor de IA determinista, es decir, basado en reglas y no en un modelo de lenguaje. El objetivo de este álbum fue tomar los requisitos que aprobamos en el SRS y convertirlos en modelos que el equipo ya puede programar.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EMMANUEL (40 s). Trabajamos con desarrollo guiado por especificaciones: si algo cambia, primero se cambia el documento y después el código. Los 15 diagramas del álbum están escritos como código en Mermaid y guardados en el repositorio, así que cada cambio queda en el historial. Usamos IA para obtener borradores, pero ninguno pasó directo: el equipo revisó cada uno, y las nueve correcciones importantes están registradas en el Anexo B. El proceso fue este: requisitos, borrador con IA y auditoría, modelado y, al final, prototipos de pantalla.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LUIS MARIO (45 s). Para el MVP nos concentramos en el estudiante. Este es su recorrido: inicia sesión y llega a su tablero; desde ahí abre el mapa de niveles, entra a una lección de vocabulario y rinde la evaluación. La regla central es el 70 %: si el estudiante acierta 7 de 10 preguntas, se desbloquea el siguiente nivel y el tablero se actualiza. Si no llega, ve sus errores y puede reintentar con preguntas nuevas. Estas tres pantallas son parte de los prototipos: el tablero, el mapa con los niveles bloqueados y la evaluación de opción múltiple.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JHOEL (45 s). En la vista estructural, el sistema tiene tres capas. Arriba está la interfaz, hecha en Astro, con las pantallas del estudiante, el panel docente y la comunidad. En el medio están los módulos centrales: gestión de usuarios, gamificación, el motor de IA y el módulo que maneja el trabajo sin conexión. Abajo están los servicios: Firebase para autenticar, Firestore como base en la nube e IndexedDB como base dentro del teléfono. En el diagrama de clases, la relación clave es que una evaluación se compone de exactamente 10 preguntas: si la evaluación se descarta, sus preguntas desaparecen con ella.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JHOEL (50 s). Este es el flujo más importante del sistema. Uno: el motor lee las oraciones base que ya están guardadas en el teléfono. Dos: con ellas genera 10 preguntas ahí mismo, sin internet. Tres: califica las respuestas; por ejemplo, 8 de 10 es 80 %, aprobado. Cuatro: guarda el resultado en IndexedDB y, cuando vuelve la señal, lo sincroniza con Firestore en segundo plano. La decisión de fondo fue no usar un modelo de lenguaje como ChatGPT. Así el costo de API es cero, todo funciona sin conexión y el sistema no inventa palabras en quechua, porque solo usa oraciones que aprobaron docentes hablantes.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LUIS MARIO (45 s). Para asegurar que no quedara nada sin diseñar, armamos una matriz de trazabilidad. Aquí ven tres filas: cada requisito tiene su caso de uso, sus clases, su módulo y su pantalla. En el álbum están los 13 requisitos. Y un ejemplo de la auditoría de IA: la IA propuso calificar las evaluaciones en un servidor en la nube. Lo cambiamos para que la nota se calcule en el teléfono, porque si no, el estudiante sin señal no podría rendir. Con esto, el diseño está listo para implementarse y la autoría humana queda documentada. ¿Tienen alguna pregunta?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J:\www\Yapu\Docs\actividad3\diagrams\logo_upds.png">    </p:cNvPr>
          <p:cNvPicPr>
            <a:picLocks noChangeAspect="1"/>
          </p:cNvPicPr>
          <p:nvPr/>
        </p:nvPicPr>
        <p:blipFill>
          <a:blip r:embed="rId1"/>
          <a:stretch>
            <a:fillRect/>
          </a:stretch>
        </p:blipFill>
        <p:spPr>
          <a:xfrm>
            <a:off x="548640" y="548640"/>
            <a:ext cx="1188720" cy="1188720"/>
          </a:xfrm>
          <a:prstGeom prst="rect">
            <a:avLst/>
          </a:prstGeom>
        </p:spPr>
      </p:pic>
      <p:sp>
        <p:nvSpPr>
          <p:cNvPr id="3" name="Text 0"/>
          <p:cNvSpPr txBox="1"/>
          <p:nvPr/>
        </p:nvSpPr>
        <p:spPr>
          <a:xfrm>
            <a:off x="548640" y="2148840"/>
            <a:ext cx="9144000" cy="274320"/>
          </a:xfrm>
          <a:prstGeom prst="rect">
            <a:avLst/>
          </a:prstGeom>
          <a:noFill/>
          <a:ln/>
        </p:spPr>
        <p:txBody>
          <a:bodyPr wrap="square" lIns="0" tIns="0" rIns="0" bIns="0" rtlCol="0" anchor="ctr"/>
          <a:lstStyle/>
          <a:p>
            <a:pPr indent="0" marL="0">
              <a:buNone/>
            </a:pPr>
            <a:r>
              <a:rPr lang="en-US" sz="1300" b="1" spc="200" kern="0" dirty="0">
                <a:solidFill>
                  <a:srgbClr val="A2462B"/>
                </a:solidFill>
                <a:latin typeface="Calibri" pitchFamily="34" charset="0"/>
                <a:ea typeface="Calibri" pitchFamily="34" charset="-122"/>
                <a:cs typeface="Calibri" pitchFamily="34" charset="-120"/>
              </a:rPr>
              <a:t>ACTIVIDAD 03 · ÁLBUM DE MODELOS UML, BLOQUE 3</a:t>
            </a:r>
            <a:endParaRPr lang="en-US" sz="1300" dirty="0"/>
          </a:p>
        </p:txBody>
      </p:sp>
      <p:sp>
        <p:nvSpPr>
          <p:cNvPr id="4" name="Text 1"/>
          <p:cNvSpPr txBox="1"/>
          <p:nvPr/>
        </p:nvSpPr>
        <p:spPr>
          <a:xfrm>
            <a:off x="548640" y="2468880"/>
            <a:ext cx="9144000" cy="822960"/>
          </a:xfrm>
          <a:prstGeom prst="rect">
            <a:avLst/>
          </a:prstGeom>
          <a:noFill/>
          <a:ln/>
        </p:spPr>
        <p:txBody>
          <a:bodyPr wrap="square" lIns="0" tIns="0" rIns="0" bIns="0" rtlCol="0" anchor="ctr"/>
          <a:lstStyle/>
          <a:p>
            <a:pPr indent="0" marL="0">
              <a:buNone/>
            </a:pPr>
            <a:r>
              <a:rPr lang="en-US" sz="4800" b="1" dirty="0">
                <a:solidFill>
                  <a:srgbClr val="1C1B19"/>
                </a:solidFill>
                <a:latin typeface="Cambria" pitchFamily="34" charset="0"/>
                <a:ea typeface="Cambria" pitchFamily="34" charset="-122"/>
                <a:cs typeface="Cambria" pitchFamily="34" charset="-120"/>
              </a:rPr>
              <a:t>Proyecto YAPU</a:t>
            </a:r>
            <a:endParaRPr lang="en-US" sz="4800" dirty="0"/>
          </a:p>
        </p:txBody>
      </p:sp>
      <p:sp>
        <p:nvSpPr>
          <p:cNvPr id="5" name="Text 2"/>
          <p:cNvSpPr txBox="1"/>
          <p:nvPr/>
        </p:nvSpPr>
        <p:spPr>
          <a:xfrm>
            <a:off x="548640" y="3291840"/>
            <a:ext cx="9144000" cy="457200"/>
          </a:xfrm>
          <a:prstGeom prst="rect">
            <a:avLst/>
          </a:prstGeom>
          <a:noFill/>
          <a:ln/>
        </p:spPr>
        <p:txBody>
          <a:bodyPr wrap="square" lIns="0" tIns="0" rIns="0" bIns="0" rtlCol="0" anchor="ctr"/>
          <a:lstStyle/>
          <a:p>
            <a:pPr indent="0" marL="0">
              <a:buNone/>
            </a:pPr>
            <a:r>
              <a:rPr lang="en-US" sz="2200" dirty="0">
                <a:solidFill>
                  <a:srgbClr val="5A5853"/>
                </a:solidFill>
                <a:latin typeface="Calibri" pitchFamily="34" charset="0"/>
                <a:ea typeface="Calibri" pitchFamily="34" charset="-122"/>
                <a:cs typeface="Calibri" pitchFamily="34" charset="-120"/>
              </a:rPr>
              <a:t>Plataforma web progresiva para aprender quechua</a:t>
            </a:r>
            <a:endParaRPr lang="en-US" sz="2200" dirty="0"/>
          </a:p>
        </p:txBody>
      </p:sp>
      <p:sp>
        <p:nvSpPr>
          <p:cNvPr id="6" name="Shape 3"/>
          <p:cNvSpPr/>
          <p:nvPr/>
        </p:nvSpPr>
        <p:spPr>
          <a:xfrm>
            <a:off x="548640" y="4069080"/>
            <a:ext cx="11094415" cy="0"/>
          </a:xfrm>
          <a:prstGeom prst="line">
            <a:avLst/>
          </a:prstGeom>
          <a:noFill/>
          <a:ln w="12700">
            <a:solidFill>
              <a:srgbClr val="D9D6CF"/>
            </a:solidFill>
            <a:prstDash val="solid"/>
          </a:ln>
        </p:spPr>
      </p:sp>
      <p:sp>
        <p:nvSpPr>
          <p:cNvPr id="7" name="Text 4"/>
          <p:cNvSpPr txBox="1"/>
          <p:nvPr/>
        </p:nvSpPr>
        <p:spPr>
          <a:xfrm>
            <a:off x="548640" y="4251960"/>
            <a:ext cx="3423818" cy="685800"/>
          </a:xfrm>
          <a:prstGeom prst="rect">
            <a:avLst/>
          </a:prstGeom>
          <a:noFill/>
          <a:ln/>
        </p:spPr>
        <p:txBody>
          <a:bodyPr wrap="square" lIns="0" tIns="0" rIns="0" bIns="0" rtlCol="0" anchor="t"/>
          <a:lstStyle/>
          <a:p>
            <a:pPr indent="0" marL="0">
              <a:buNone/>
            </a:pPr>
            <a:r>
              <a:rPr lang="en-US" sz="1700" b="1" dirty="0">
                <a:solidFill>
                  <a:srgbClr val="1C1B19"/>
                </a:solidFill>
                <a:latin typeface="Calibri" pitchFamily="34" charset="0"/>
                <a:ea typeface="Calibri" pitchFamily="34" charset="-122"/>
                <a:cs typeface="Calibri" pitchFamily="34" charset="-120"/>
              </a:rPr>
              <a:t>Emmanuel Ponce Quiroga</a:t>
            </a:r>
            <a:endParaRPr lang="en-US" sz="1700" dirty="0"/>
          </a:p>
          <a:p>
            <a:pPr indent="0" marL="0">
              <a:buNone/>
            </a:pPr>
            <a:r>
              <a:rPr lang="en-US" sz="1400" dirty="0">
                <a:solidFill>
                  <a:srgbClr val="5A5853"/>
                </a:solidFill>
                <a:latin typeface="Calibri" pitchFamily="34" charset="0"/>
                <a:ea typeface="Calibri" pitchFamily="34" charset="-122"/>
                <a:cs typeface="Calibri" pitchFamily="34" charset="-120"/>
              </a:rPr>
              <a:t>Líder técnico y gobernanza de IA</a:t>
            </a:r>
            <a:endParaRPr lang="en-US" sz="1700" dirty="0"/>
          </a:p>
        </p:txBody>
      </p:sp>
      <p:sp>
        <p:nvSpPr>
          <p:cNvPr id="8" name="Text 5"/>
          <p:cNvSpPr txBox="1"/>
          <p:nvPr/>
        </p:nvSpPr>
        <p:spPr>
          <a:xfrm>
            <a:off x="4246778" y="4251960"/>
            <a:ext cx="3423818" cy="685800"/>
          </a:xfrm>
          <a:prstGeom prst="rect">
            <a:avLst/>
          </a:prstGeom>
          <a:noFill/>
          <a:ln/>
        </p:spPr>
        <p:txBody>
          <a:bodyPr wrap="square" lIns="0" tIns="0" rIns="0" bIns="0" rtlCol="0" anchor="t"/>
          <a:lstStyle/>
          <a:p>
            <a:pPr indent="0" marL="0">
              <a:buNone/>
            </a:pPr>
            <a:r>
              <a:rPr lang="en-US" sz="1700" b="1" dirty="0">
                <a:solidFill>
                  <a:srgbClr val="1C1B19"/>
                </a:solidFill>
                <a:latin typeface="Calibri" pitchFamily="34" charset="0"/>
                <a:ea typeface="Calibri" pitchFamily="34" charset="-122"/>
                <a:cs typeface="Calibri" pitchFamily="34" charset="-120"/>
              </a:rPr>
              <a:t>Jhoel Álvaro Cruz Zurita</a:t>
            </a:r>
            <a:endParaRPr lang="en-US" sz="1700" dirty="0"/>
          </a:p>
          <a:p>
            <a:pPr indent="0" marL="0">
              <a:buNone/>
            </a:pPr>
            <a:r>
              <a:rPr lang="en-US" sz="1400" dirty="0">
                <a:solidFill>
                  <a:srgbClr val="5A5853"/>
                </a:solidFill>
                <a:latin typeface="Calibri" pitchFamily="34" charset="0"/>
                <a:ea typeface="Calibri" pitchFamily="34" charset="-122"/>
                <a:cs typeface="Calibri" pitchFamily="34" charset="-120"/>
              </a:rPr>
              <a:t>Arquitectura VPS y gestión de datos</a:t>
            </a:r>
            <a:endParaRPr lang="en-US" sz="1700" dirty="0"/>
          </a:p>
        </p:txBody>
      </p:sp>
      <p:sp>
        <p:nvSpPr>
          <p:cNvPr id="9" name="Text 6"/>
          <p:cNvSpPr txBox="1"/>
          <p:nvPr/>
        </p:nvSpPr>
        <p:spPr>
          <a:xfrm>
            <a:off x="7944917" y="4251960"/>
            <a:ext cx="3423818" cy="685800"/>
          </a:xfrm>
          <a:prstGeom prst="rect">
            <a:avLst/>
          </a:prstGeom>
          <a:noFill/>
          <a:ln/>
        </p:spPr>
        <p:txBody>
          <a:bodyPr wrap="square" lIns="0" tIns="0" rIns="0" bIns="0" rtlCol="0" anchor="t"/>
          <a:lstStyle/>
          <a:p>
            <a:pPr indent="0" marL="0">
              <a:buNone/>
            </a:pPr>
            <a:r>
              <a:rPr lang="en-US" sz="1700" b="1" dirty="0">
                <a:solidFill>
                  <a:srgbClr val="1C1B19"/>
                </a:solidFill>
                <a:latin typeface="Calibri" pitchFamily="34" charset="0"/>
                <a:ea typeface="Calibri" pitchFamily="34" charset="-122"/>
                <a:cs typeface="Calibri" pitchFamily="34" charset="-120"/>
              </a:rPr>
              <a:t>Luis Mario Rocha Vela</a:t>
            </a:r>
            <a:endParaRPr lang="en-US" sz="1700" dirty="0"/>
          </a:p>
          <a:p>
            <a:pPr indent="0" marL="0">
              <a:buNone/>
            </a:pPr>
            <a:r>
              <a:rPr lang="en-US" sz="1400" dirty="0">
                <a:solidFill>
                  <a:srgbClr val="5A5853"/>
                </a:solidFill>
                <a:latin typeface="Calibri" pitchFamily="34" charset="0"/>
                <a:ea typeface="Calibri" pitchFamily="34" charset="-122"/>
                <a:cs typeface="Calibri" pitchFamily="34" charset="-120"/>
              </a:rPr>
              <a:t>Aseguramiento de la calidad y normas APA</a:t>
            </a:r>
            <a:endParaRPr lang="en-US" sz="1700" dirty="0"/>
          </a:p>
        </p:txBody>
      </p:sp>
      <p:sp>
        <p:nvSpPr>
          <p:cNvPr id="10" name="Text 7"/>
          <p:cNvSpPr txBox="1"/>
          <p:nvPr/>
        </p:nvSpPr>
        <p:spPr>
          <a:xfrm>
            <a:off x="548640" y="5486400"/>
            <a:ext cx="11094415" cy="320040"/>
          </a:xfrm>
          <a:prstGeom prst="rect">
            <a:avLst/>
          </a:prstGeom>
          <a:noFill/>
          <a:ln/>
        </p:spPr>
        <p:txBody>
          <a:bodyPr wrap="square" lIns="0" tIns="0" rIns="0" bIns="0" rtlCol="0" anchor="ctr"/>
          <a:lstStyle/>
          <a:p>
            <a:pPr indent="0" marL="0">
              <a:buNone/>
            </a:pPr>
            <a:r>
              <a:rPr lang="en-US" sz="1400" dirty="0">
                <a:solidFill>
                  <a:srgbClr val="5A5853"/>
                </a:solidFill>
                <a:latin typeface="Calibri" pitchFamily="34" charset="0"/>
                <a:ea typeface="Calibri" pitchFamily="34" charset="-122"/>
                <a:cs typeface="Calibri" pitchFamily="34" charset="-120"/>
              </a:rPr>
              <a:t>Ingeniería de Software I  ·  Docente: Ing. Jimmy Nataniel Requena Llorentty  ·  UPDS, Santa Cruz  ·  septiembre de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384048"/>
            <a:ext cx="11094415" cy="274320"/>
          </a:xfrm>
          <a:prstGeom prst="rect">
            <a:avLst/>
          </a:prstGeom>
          <a:noFill/>
          <a:ln/>
        </p:spPr>
        <p:txBody>
          <a:bodyPr wrap="square" lIns="0" tIns="0" rIns="0" bIns="0" rtlCol="0" anchor="ctr"/>
          <a:lstStyle/>
          <a:p>
            <a:pPr indent="0" marL="0">
              <a:buNone/>
            </a:pPr>
            <a:r>
              <a:rPr lang="en-US" sz="1200" b="1" spc="200" kern="0" dirty="0">
                <a:solidFill>
                  <a:srgbClr val="A2462B"/>
                </a:solidFill>
                <a:latin typeface="Calibri" pitchFamily="34" charset="0"/>
                <a:ea typeface="Calibri" pitchFamily="34" charset="-122"/>
                <a:cs typeface="Calibri" pitchFamily="34" charset="-120"/>
              </a:rPr>
              <a:t>CONTEXTO</a:t>
            </a:r>
            <a:endParaRPr lang="en-US" sz="1200" dirty="0"/>
          </a:p>
        </p:txBody>
      </p:sp>
      <p:sp>
        <p:nvSpPr>
          <p:cNvPr id="3" name="Text 1"/>
          <p:cNvSpPr txBox="1"/>
          <p:nvPr/>
        </p:nvSpPr>
        <p:spPr>
          <a:xfrm>
            <a:off x="548640" y="658368"/>
            <a:ext cx="11094415" cy="685800"/>
          </a:xfrm>
          <a:prstGeom prst="rect">
            <a:avLst/>
          </a:prstGeom>
          <a:noFill/>
          <a:ln/>
        </p:spPr>
        <p:txBody>
          <a:bodyPr wrap="square" lIns="0" tIns="0" rIns="0" bIns="0" rtlCol="0" anchor="t"/>
          <a:lstStyle/>
          <a:p>
            <a:pPr indent="0" marL="0">
              <a:buNone/>
            </a:pPr>
            <a:r>
              <a:rPr lang="en-US" sz="3000" b="1" dirty="0">
                <a:solidFill>
                  <a:srgbClr val="1C1B19"/>
                </a:solidFill>
                <a:latin typeface="Cambria" pitchFamily="34" charset="0"/>
                <a:ea typeface="Cambria" pitchFamily="34" charset="-122"/>
                <a:cs typeface="Cambria" pitchFamily="34" charset="-120"/>
              </a:rPr>
              <a:t>YAPU enseña quechua incluso sin internet</a:t>
            </a:r>
            <a:endParaRPr lang="en-US" sz="3000" dirty="0"/>
          </a:p>
        </p:txBody>
      </p:sp>
      <p:sp>
        <p:nvSpPr>
          <p:cNvPr id="4" name="Text 2"/>
          <p:cNvSpPr txBox="1"/>
          <p:nvPr/>
        </p:nvSpPr>
        <p:spPr>
          <a:xfrm>
            <a:off x="548640" y="1828800"/>
            <a:ext cx="7498080" cy="3840480"/>
          </a:xfrm>
          <a:prstGeom prst="rect">
            <a:avLst/>
          </a:prstGeom>
          <a:noFill/>
          <a:ln/>
        </p:spPr>
        <p:txBody>
          <a:bodyPr wrap="square" lIns="0" tIns="0" rIns="0" bIns="0" rtlCol="0" anchor="t"/>
          <a:lstStyle/>
          <a:p>
            <a:pPr marL="342900" indent="-342900">
              <a:spcAft>
                <a:spcPts val="2000"/>
              </a:spcAft>
              <a:buSzPct val="100000"/>
              <a:buChar char="■"/>
            </a:pPr>
            <a:r>
              <a:rPr lang="en-US" sz="2200" b="1" dirty="0">
                <a:solidFill>
                  <a:srgbClr val="1C1B19"/>
                </a:solidFill>
                <a:latin typeface="Calibri" pitchFamily="34" charset="0"/>
                <a:ea typeface="Calibri" pitchFamily="34" charset="-122"/>
                <a:cs typeface="Calibri" pitchFamily="34" charset="-120"/>
              </a:rPr>
              <a:t>Problema: </a:t>
            </a:r>
            <a:pPr indent="0" marL="0">
              <a:spcAft>
                <a:spcPts val="2000"/>
              </a:spcAft>
              <a:buNone/>
            </a:pPr>
            <a:r>
              <a:rPr lang="en-US" sz="2200" dirty="0">
                <a:solidFill>
                  <a:srgbClr val="1C1B19"/>
                </a:solidFill>
                <a:latin typeface="Calibri" pitchFamily="34" charset="0"/>
                <a:ea typeface="Calibri" pitchFamily="34" charset="-122"/>
                <a:cs typeface="Calibri" pitchFamily="34" charset="-120"/>
              </a:rPr>
              <a:t>revitalizar el quechua en zonas donde la conexión es intermitente y los teléfonos son de gama baja.</a:t>
            </a:r>
            <a:endParaRPr lang="en-US" sz="2200" dirty="0"/>
          </a:p>
          <a:p>
            <a:pPr marL="342900" indent="-342900">
              <a:spcAft>
                <a:spcPts val="2000"/>
              </a:spcAft>
              <a:buSzPct val="100000"/>
              <a:buChar char="■"/>
            </a:pPr>
            <a:r>
              <a:rPr lang="en-US" sz="2200" b="1" dirty="0">
                <a:solidFill>
                  <a:srgbClr val="1C1B19"/>
                </a:solidFill>
                <a:latin typeface="Calibri" pitchFamily="34" charset="0"/>
                <a:ea typeface="Calibri" pitchFamily="34" charset="-122"/>
                <a:cs typeface="Calibri" pitchFamily="34" charset="-120"/>
              </a:rPr>
              <a:t>Solución: </a:t>
            </a:r>
            <a:pPr indent="0" marL="0">
              <a:spcAft>
                <a:spcPts val="2000"/>
              </a:spcAft>
              <a:buNone/>
            </a:pPr>
            <a:r>
              <a:rPr lang="en-US" sz="2200" dirty="0">
                <a:solidFill>
                  <a:srgbClr val="1C1B19"/>
                </a:solidFill>
                <a:latin typeface="Calibri" pitchFamily="34" charset="0"/>
                <a:ea typeface="Calibri" pitchFamily="34" charset="-122"/>
                <a:cs typeface="Calibri" pitchFamily="34" charset="-120"/>
              </a:rPr>
              <a:t>una PWA, una app web que se instala y funciona sin conexión, con gamificación y un motor de IA determinista, sin LLM.</a:t>
            </a:r>
            <a:endParaRPr lang="en-US" sz="2200" dirty="0"/>
          </a:p>
          <a:p>
            <a:pPr marL="342900" indent="-342900">
              <a:spcAft>
                <a:spcPts val="2000"/>
              </a:spcAft>
              <a:buSzPct val="100000"/>
              <a:buChar char="■"/>
            </a:pPr>
            <a:r>
              <a:rPr lang="en-US" sz="2200" b="1" dirty="0">
                <a:solidFill>
                  <a:srgbClr val="1C1B19"/>
                </a:solidFill>
                <a:latin typeface="Calibri" pitchFamily="34" charset="0"/>
                <a:ea typeface="Calibri" pitchFamily="34" charset="-122"/>
                <a:cs typeface="Calibri" pitchFamily="34" charset="-120"/>
              </a:rPr>
              <a:t>Objetivo del álbum: </a:t>
            </a:r>
            <a:pPr indent="0" marL="0">
              <a:spcAft>
                <a:spcPts val="2000"/>
              </a:spcAft>
              <a:buNone/>
            </a:pPr>
            <a:r>
              <a:rPr lang="en-US" sz="2200" dirty="0">
                <a:solidFill>
                  <a:srgbClr val="1C1B19"/>
                </a:solidFill>
                <a:latin typeface="Calibri" pitchFamily="34" charset="0"/>
                <a:ea typeface="Calibri" pitchFamily="34" charset="-122"/>
                <a:cs typeface="Calibri" pitchFamily="34" charset="-120"/>
              </a:rPr>
              <a:t>pasar de los requisitos del SRS (IEEE 830) a modelos listos para programar.</a:t>
            </a:r>
            <a:endParaRPr lang="en-US" sz="2200" dirty="0"/>
          </a:p>
        </p:txBody>
      </p:sp>
      <p:pic>
        <p:nvPicPr>
          <p:cNvPr id="5" name="Image 0" descr="J:\www\Yapu\Docs\actividad3\diagrams\prototipos\p1_inicio_sesion.png">    </p:cNvPr>
          <p:cNvPicPr>
            <a:picLocks noChangeAspect="1"/>
          </p:cNvPicPr>
          <p:nvPr/>
        </p:nvPicPr>
        <p:blipFill>
          <a:blip r:embed="rId1"/>
          <a:stretch>
            <a:fillRect/>
          </a:stretch>
        </p:blipFill>
        <p:spPr>
          <a:xfrm>
            <a:off x="9326880" y="1463040"/>
            <a:ext cx="2070479" cy="4480560"/>
          </a:xfrm>
          <a:prstGeom prst="rect">
            <a:avLst/>
          </a:prstGeom>
        </p:spPr>
      </p:pic>
      <p:sp>
        <p:nvSpPr>
          <p:cNvPr id="6" name="Text 3"/>
          <p:cNvSpPr txBox="1"/>
          <p:nvPr/>
        </p:nvSpPr>
        <p:spPr>
          <a:xfrm>
            <a:off x="9326880" y="5989320"/>
            <a:ext cx="2286000" cy="228600"/>
          </a:xfrm>
          <a:prstGeom prst="rect">
            <a:avLst/>
          </a:prstGeom>
          <a:noFill/>
          <a:ln/>
        </p:spPr>
        <p:txBody>
          <a:bodyPr wrap="square" lIns="0" tIns="0" rIns="0" bIns="0" rtlCol="0" anchor="ctr"/>
          <a:lstStyle/>
          <a:p>
            <a:pPr indent="0" marL="0">
              <a:buNone/>
            </a:pPr>
            <a:r>
              <a:rPr lang="en-US" sz="1000" i="1" dirty="0">
                <a:solidFill>
                  <a:srgbClr val="5A5853"/>
                </a:solidFill>
                <a:latin typeface="Calibri" pitchFamily="34" charset="0"/>
                <a:ea typeface="Calibri" pitchFamily="34" charset="-122"/>
                <a:cs typeface="Calibri" pitchFamily="34" charset="-120"/>
              </a:rPr>
              <a:t>Figura 6a del álbum</a:t>
            </a:r>
            <a:endParaRPr lang="en-US" sz="1000" dirty="0"/>
          </a:p>
        </p:txBody>
      </p:sp>
      <p:sp>
        <p:nvSpPr>
          <p:cNvPr id="7" name="Text 4"/>
          <p:cNvSpPr txBox="1"/>
          <p:nvPr/>
        </p:nvSpPr>
        <p:spPr>
          <a:xfrm>
            <a:off x="548640" y="6400800"/>
            <a:ext cx="5486400" cy="228600"/>
          </a:xfrm>
          <a:prstGeom prst="rect">
            <a:avLst/>
          </a:prstGeom>
          <a:noFill/>
          <a:ln/>
        </p:spPr>
        <p:txBody>
          <a:bodyPr wrap="square" lIns="0" tIns="0" rIns="0" bIns="0" rtlCol="0" anchor="ctr"/>
          <a:lstStyle/>
          <a:p>
            <a:pPr indent="0" marL="0">
              <a:buNone/>
            </a:pPr>
            <a:r>
              <a:rPr lang="en-US" sz="1000" dirty="0">
                <a:solidFill>
                  <a:srgbClr val="5A5853"/>
                </a:solidFill>
                <a:latin typeface="Calibri" pitchFamily="34" charset="0"/>
                <a:ea typeface="Calibri" pitchFamily="34" charset="-122"/>
                <a:cs typeface="Calibri" pitchFamily="34" charset="-120"/>
              </a:rPr>
              <a:t>YAPU · Álbum de Modelos UML, Bloque 3</a:t>
            </a:r>
            <a:endParaRPr lang="en-US" sz="1000" dirty="0"/>
          </a:p>
        </p:txBody>
      </p:sp>
      <p:sp>
        <p:nvSpPr>
          <p:cNvPr id="8" name="Text 5"/>
          <p:cNvSpPr txBox="1"/>
          <p:nvPr/>
        </p:nvSpPr>
        <p:spPr>
          <a:xfrm>
            <a:off x="10271455" y="6400800"/>
            <a:ext cx="1371600" cy="228600"/>
          </a:xfrm>
          <a:prstGeom prst="rect">
            <a:avLst/>
          </a:prstGeom>
          <a:noFill/>
          <a:ln/>
        </p:spPr>
        <p:txBody>
          <a:bodyPr wrap="square" lIns="0" tIns="0" rIns="0" bIns="0" rtlCol="0" anchor="ctr"/>
          <a:lstStyle/>
          <a:p>
            <a:pPr algn="r" indent="0" marL="0">
              <a:buNone/>
            </a:pPr>
            <a:r>
              <a:rPr lang="en-US" sz="1000" dirty="0">
                <a:solidFill>
                  <a:srgbClr val="5A5853"/>
                </a:solidFill>
                <a:latin typeface="Calibri" pitchFamily="34" charset="0"/>
                <a:ea typeface="Calibri" pitchFamily="34" charset="-122"/>
                <a:cs typeface="Calibri" pitchFamily="34" charset="-120"/>
              </a:rPr>
              <a:t>2 / 7</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384048"/>
            <a:ext cx="11094415" cy="274320"/>
          </a:xfrm>
          <a:prstGeom prst="rect">
            <a:avLst/>
          </a:prstGeom>
          <a:noFill/>
          <a:ln/>
        </p:spPr>
        <p:txBody>
          <a:bodyPr wrap="square" lIns="0" tIns="0" rIns="0" bIns="0" rtlCol="0" anchor="ctr"/>
          <a:lstStyle/>
          <a:p>
            <a:pPr indent="0" marL="0">
              <a:buNone/>
            </a:pPr>
            <a:r>
              <a:rPr lang="en-US" sz="1200" b="1" spc="200" kern="0" dirty="0">
                <a:solidFill>
                  <a:srgbClr val="A2462B"/>
                </a:solidFill>
                <a:latin typeface="Calibri" pitchFamily="34" charset="0"/>
                <a:ea typeface="Calibri" pitchFamily="34" charset="-122"/>
                <a:cs typeface="Calibri" pitchFamily="34" charset="-120"/>
              </a:rPr>
              <a:t>METODOLOGÍA</a:t>
            </a:r>
            <a:endParaRPr lang="en-US" sz="1200" dirty="0"/>
          </a:p>
        </p:txBody>
      </p:sp>
      <p:sp>
        <p:nvSpPr>
          <p:cNvPr id="3" name="Text 1"/>
          <p:cNvSpPr txBox="1"/>
          <p:nvPr/>
        </p:nvSpPr>
        <p:spPr>
          <a:xfrm>
            <a:off x="548640" y="658368"/>
            <a:ext cx="11094415" cy="685800"/>
          </a:xfrm>
          <a:prstGeom prst="rect">
            <a:avLst/>
          </a:prstGeom>
          <a:noFill/>
          <a:ln/>
        </p:spPr>
        <p:txBody>
          <a:bodyPr wrap="square" lIns="0" tIns="0" rIns="0" bIns="0" rtlCol="0" anchor="t"/>
          <a:lstStyle/>
          <a:p>
            <a:pPr indent="0" marL="0">
              <a:buNone/>
            </a:pPr>
            <a:r>
              <a:rPr lang="en-US" sz="3000" b="1" dirty="0">
                <a:solidFill>
                  <a:srgbClr val="1C1B19"/>
                </a:solidFill>
                <a:latin typeface="Cambria" pitchFamily="34" charset="0"/>
                <a:ea typeface="Cambria" pitchFamily="34" charset="-122"/>
                <a:cs typeface="Cambria" pitchFamily="34" charset="-120"/>
              </a:rPr>
              <a:t>Modelamos con especificaciones y diagramas como código</a:t>
            </a:r>
            <a:endParaRPr lang="en-US" sz="3000" dirty="0"/>
          </a:p>
        </p:txBody>
      </p:sp>
      <p:sp>
        <p:nvSpPr>
          <p:cNvPr id="4" name="Text 2"/>
          <p:cNvSpPr txBox="1"/>
          <p:nvPr/>
        </p:nvSpPr>
        <p:spPr>
          <a:xfrm>
            <a:off x="548640" y="1600200"/>
            <a:ext cx="11094415" cy="1828800"/>
          </a:xfrm>
          <a:prstGeom prst="rect">
            <a:avLst/>
          </a:prstGeom>
          <a:noFill/>
          <a:ln/>
        </p:spPr>
        <p:txBody>
          <a:bodyPr wrap="square" lIns="0" tIns="0" rIns="0" bIns="0" rtlCol="0" anchor="t"/>
          <a:lstStyle/>
          <a:p>
            <a:pPr marL="342900" indent="-342900">
              <a:spcAft>
                <a:spcPts val="1000"/>
              </a:spcAft>
              <a:buSzPct val="100000"/>
              <a:buChar char="■"/>
            </a:pPr>
            <a:r>
              <a:rPr lang="en-US" sz="2000" b="1" dirty="0">
                <a:solidFill>
                  <a:srgbClr val="1C1B19"/>
                </a:solidFill>
                <a:latin typeface="Calibri" pitchFamily="34" charset="0"/>
                <a:ea typeface="Calibri" pitchFamily="34" charset="-122"/>
                <a:cs typeface="Calibri" pitchFamily="34" charset="-120"/>
              </a:rPr>
              <a:t>Spec-Driven Development: </a:t>
            </a:r>
            <a:pPr indent="0" marL="0">
              <a:spcAft>
                <a:spcPts val="1000"/>
              </a:spcAft>
              <a:buNone/>
            </a:pPr>
            <a:r>
              <a:rPr lang="en-US" sz="2000" dirty="0">
                <a:solidFill>
                  <a:srgbClr val="1C1B19"/>
                </a:solidFill>
                <a:latin typeface="Calibri" pitchFamily="34" charset="0"/>
                <a:ea typeface="Calibri" pitchFamily="34" charset="-122"/>
                <a:cs typeface="Calibri" pitchFamily="34" charset="-120"/>
              </a:rPr>
              <a:t>la especificación es la única fuente de verdad.</a:t>
            </a:r>
            <a:endParaRPr lang="en-US" sz="2000" dirty="0"/>
          </a:p>
          <a:p>
            <a:pPr marL="342900" indent="-342900">
              <a:spcAft>
                <a:spcPts val="1000"/>
              </a:spcAft>
              <a:buSzPct val="100000"/>
              <a:buChar char="■"/>
            </a:pPr>
            <a:r>
              <a:rPr lang="en-US" sz="2000" b="1" dirty="0">
                <a:solidFill>
                  <a:srgbClr val="1C1B19"/>
                </a:solidFill>
                <a:latin typeface="Calibri" pitchFamily="34" charset="0"/>
                <a:ea typeface="Calibri" pitchFamily="34" charset="-122"/>
                <a:cs typeface="Calibri" pitchFamily="34" charset="-120"/>
              </a:rPr>
              <a:t>Diagramas como código </a:t>
            </a:r>
            <a:pPr indent="0" marL="0">
              <a:spcAft>
                <a:spcPts val="1000"/>
              </a:spcAft>
              <a:buNone/>
            </a:pPr>
            <a:r>
              <a:rPr lang="en-US" sz="2000" dirty="0">
                <a:solidFill>
                  <a:srgbClr val="1C1B19"/>
                </a:solidFill>
                <a:latin typeface="Calibri" pitchFamily="34" charset="0"/>
                <a:ea typeface="Calibri" pitchFamily="34" charset="-122"/>
                <a:cs typeface="Calibri" pitchFamily="34" charset="-120"/>
              </a:rPr>
              <a:t>en Mermaid, versionados en el repositorio con Git.</a:t>
            </a:r>
            <a:endParaRPr lang="en-US" sz="2000" dirty="0"/>
          </a:p>
          <a:p>
            <a:pPr marL="342900" indent="-342900">
              <a:spcAft>
                <a:spcPts val="1000"/>
              </a:spcAft>
              <a:buSzPct val="100000"/>
              <a:buChar char="■"/>
            </a:pPr>
            <a:r>
              <a:rPr lang="en-US" sz="2000" dirty="0">
                <a:solidFill>
                  <a:srgbClr val="1C1B19"/>
                </a:solidFill>
                <a:latin typeface="Calibri" pitchFamily="34" charset="0"/>
                <a:ea typeface="Calibri" pitchFamily="34" charset="-122"/>
                <a:cs typeface="Calibri" pitchFamily="34" charset="-120"/>
              </a:rPr>
              <a:t>La IA propuso borradores y </a:t>
            </a:r>
            <a:pPr indent="0" marL="0">
              <a:spcAft>
                <a:spcPts val="1000"/>
              </a:spcAft>
              <a:buNone/>
            </a:pPr>
            <a:r>
              <a:rPr lang="en-US" sz="2000" b="1" dirty="0">
                <a:solidFill>
                  <a:srgbClr val="1C1B19"/>
                </a:solidFill>
                <a:latin typeface="Calibri" pitchFamily="34" charset="0"/>
                <a:ea typeface="Calibri" pitchFamily="34" charset="-122"/>
                <a:cs typeface="Calibri" pitchFamily="34" charset="-120"/>
              </a:rPr>
              <a:t>el equipo auditó cada uno</a:t>
            </a:r>
            <a:pPr indent="0" marL="0">
              <a:spcAft>
                <a:spcPts val="1000"/>
              </a:spcAft>
              <a:buNone/>
            </a:pPr>
            <a:r>
              <a:rPr lang="en-US" sz="2000" dirty="0">
                <a:solidFill>
                  <a:srgbClr val="1C1B19"/>
                </a:solidFill>
                <a:latin typeface="Calibri" pitchFamily="34" charset="0"/>
                <a:ea typeface="Calibri" pitchFamily="34" charset="-122"/>
                <a:cs typeface="Calibri" pitchFamily="34" charset="-120"/>
              </a:rPr>
              <a:t> (Anexo B, 9 decisiones).</a:t>
            </a:r>
            <a:endParaRPr lang="en-US" sz="2000" dirty="0"/>
          </a:p>
        </p:txBody>
      </p:sp>
      <p:sp>
        <p:nvSpPr>
          <p:cNvPr id="5" name="Shape 3"/>
          <p:cNvSpPr/>
          <p:nvPr/>
        </p:nvSpPr>
        <p:spPr>
          <a:xfrm>
            <a:off x="548640" y="3794760"/>
            <a:ext cx="2464994" cy="2148840"/>
          </a:xfrm>
          <a:prstGeom prst="roundRect">
            <a:avLst>
              <a:gd name="adj" fmla="val 3404"/>
            </a:avLst>
          </a:prstGeom>
          <a:solidFill>
            <a:srgbClr val="F3F2EF"/>
          </a:solidFill>
          <a:ln w="12700">
            <a:solidFill>
              <a:srgbClr val="F3F2EF"/>
            </a:solidFill>
            <a:prstDash val="solid"/>
          </a:ln>
        </p:spPr>
      </p:sp>
      <p:sp>
        <p:nvSpPr>
          <p:cNvPr id="6" name="Shape 4"/>
          <p:cNvSpPr/>
          <p:nvPr/>
        </p:nvSpPr>
        <p:spPr>
          <a:xfrm>
            <a:off x="777240" y="4023360"/>
            <a:ext cx="457200" cy="457200"/>
          </a:xfrm>
          <a:prstGeom prst="ellipse">
            <a:avLst/>
          </a:prstGeom>
          <a:solidFill>
            <a:srgbClr val="1C1B19"/>
          </a:solidFill>
          <a:ln w="12700">
            <a:solidFill>
              <a:srgbClr val="1C1B19"/>
            </a:solidFill>
            <a:prstDash val="solid"/>
          </a:ln>
        </p:spPr>
      </p:sp>
      <p:sp>
        <p:nvSpPr>
          <p:cNvPr id="7" name="Text 5"/>
          <p:cNvSpPr txBox="1"/>
          <p:nvPr/>
        </p:nvSpPr>
        <p:spPr>
          <a:xfrm>
            <a:off x="777240" y="40233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8" name="Text 6"/>
          <p:cNvSpPr txBox="1"/>
          <p:nvPr/>
        </p:nvSpPr>
        <p:spPr>
          <a:xfrm>
            <a:off x="777240" y="4617720"/>
            <a:ext cx="2007794" cy="365760"/>
          </a:xfrm>
          <a:prstGeom prst="rect">
            <a:avLst/>
          </a:prstGeom>
          <a:noFill/>
          <a:ln/>
        </p:spPr>
        <p:txBody>
          <a:bodyPr wrap="square" lIns="0" tIns="0" rIns="0" bIns="0" rtlCol="0" anchor="ctr"/>
          <a:lstStyle/>
          <a:p>
            <a:pPr indent="0" marL="0">
              <a:buNone/>
            </a:pPr>
            <a:r>
              <a:rPr lang="en-US" sz="1800" b="1" dirty="0">
                <a:solidFill>
                  <a:srgbClr val="1C1B19"/>
                </a:solidFill>
                <a:latin typeface="Cambria" pitchFamily="34" charset="0"/>
                <a:ea typeface="Cambria" pitchFamily="34" charset="-122"/>
                <a:cs typeface="Cambria" pitchFamily="34" charset="-120"/>
              </a:rPr>
              <a:t>Requisitos</a:t>
            </a:r>
            <a:endParaRPr lang="en-US" sz="1800" dirty="0"/>
          </a:p>
        </p:txBody>
      </p:sp>
      <p:sp>
        <p:nvSpPr>
          <p:cNvPr id="9" name="Text 7"/>
          <p:cNvSpPr txBox="1"/>
          <p:nvPr/>
        </p:nvSpPr>
        <p:spPr>
          <a:xfrm>
            <a:off x="777240" y="5029200"/>
            <a:ext cx="2007794" cy="777240"/>
          </a:xfrm>
          <a:prstGeom prst="rect">
            <a:avLst/>
          </a:prstGeom>
          <a:noFill/>
          <a:ln/>
        </p:spPr>
        <p:txBody>
          <a:bodyPr wrap="square" lIns="0" tIns="0" rIns="0" bIns="0" rtlCol="0" anchor="t"/>
          <a:lstStyle/>
          <a:p>
            <a:pPr indent="0" marL="0">
              <a:buNone/>
            </a:pPr>
            <a:r>
              <a:rPr lang="en-US" sz="1400" dirty="0">
                <a:solidFill>
                  <a:srgbClr val="5A5853"/>
                </a:solidFill>
                <a:latin typeface="Calibri" pitchFamily="34" charset="0"/>
                <a:ea typeface="Calibri" pitchFamily="34" charset="-122"/>
                <a:cs typeface="Calibri" pitchFamily="34" charset="-120"/>
              </a:rPr>
              <a:t>SRS IEEE 830 y observaciones de la docente de quechua</a:t>
            </a:r>
            <a:endParaRPr lang="en-US" sz="1400" dirty="0"/>
          </a:p>
        </p:txBody>
      </p:sp>
      <p:sp>
        <p:nvSpPr>
          <p:cNvPr id="10" name="Text 8"/>
          <p:cNvSpPr txBox="1"/>
          <p:nvPr/>
        </p:nvSpPr>
        <p:spPr>
          <a:xfrm>
            <a:off x="3013634" y="4663440"/>
            <a:ext cx="411480" cy="411480"/>
          </a:xfrm>
          <a:prstGeom prst="rect">
            <a:avLst/>
          </a:prstGeom>
          <a:noFill/>
          <a:ln/>
        </p:spPr>
        <p:txBody>
          <a:bodyPr wrap="square" lIns="0" tIns="0" rIns="0" bIns="0" rtlCol="0" anchor="ctr"/>
          <a:lstStyle/>
          <a:p>
            <a:pPr algn="ctr" indent="0" marL="0">
              <a:buNone/>
            </a:pPr>
            <a:r>
              <a:rPr lang="en-US" sz="2200" dirty="0">
                <a:solidFill>
                  <a:srgbClr val="5A5853"/>
                </a:solidFill>
                <a:latin typeface="Calibri" pitchFamily="34" charset="0"/>
                <a:ea typeface="Calibri" pitchFamily="34" charset="-122"/>
                <a:cs typeface="Calibri" pitchFamily="34" charset="-120"/>
              </a:rPr>
              <a:t>→</a:t>
            </a:r>
            <a:endParaRPr lang="en-US" sz="2200" dirty="0"/>
          </a:p>
        </p:txBody>
      </p:sp>
      <p:sp>
        <p:nvSpPr>
          <p:cNvPr id="11" name="Shape 9"/>
          <p:cNvSpPr/>
          <p:nvPr/>
        </p:nvSpPr>
        <p:spPr>
          <a:xfrm>
            <a:off x="3425114" y="3794760"/>
            <a:ext cx="2464994" cy="2148840"/>
          </a:xfrm>
          <a:prstGeom prst="roundRect">
            <a:avLst>
              <a:gd name="adj" fmla="val 3404"/>
            </a:avLst>
          </a:prstGeom>
          <a:solidFill>
            <a:srgbClr val="F7EFEB"/>
          </a:solidFill>
          <a:ln w="12700">
            <a:solidFill>
              <a:srgbClr val="F7EFEB"/>
            </a:solidFill>
            <a:prstDash val="solid"/>
          </a:ln>
        </p:spPr>
      </p:sp>
      <p:sp>
        <p:nvSpPr>
          <p:cNvPr id="12" name="Shape 10"/>
          <p:cNvSpPr/>
          <p:nvPr/>
        </p:nvSpPr>
        <p:spPr>
          <a:xfrm>
            <a:off x="3653714" y="4023360"/>
            <a:ext cx="457200" cy="457200"/>
          </a:xfrm>
          <a:prstGeom prst="ellipse">
            <a:avLst/>
          </a:prstGeom>
          <a:solidFill>
            <a:srgbClr val="A2462B"/>
          </a:solidFill>
          <a:ln w="12700">
            <a:solidFill>
              <a:srgbClr val="A2462B"/>
            </a:solidFill>
            <a:prstDash val="solid"/>
          </a:ln>
        </p:spPr>
      </p:sp>
      <p:sp>
        <p:nvSpPr>
          <p:cNvPr id="13" name="Text 11"/>
          <p:cNvSpPr txBox="1"/>
          <p:nvPr/>
        </p:nvSpPr>
        <p:spPr>
          <a:xfrm>
            <a:off x="3653714" y="40233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4" name="Text 12"/>
          <p:cNvSpPr txBox="1"/>
          <p:nvPr/>
        </p:nvSpPr>
        <p:spPr>
          <a:xfrm>
            <a:off x="3653714" y="4617720"/>
            <a:ext cx="2007794" cy="365760"/>
          </a:xfrm>
          <a:prstGeom prst="rect">
            <a:avLst/>
          </a:prstGeom>
          <a:noFill/>
          <a:ln/>
        </p:spPr>
        <p:txBody>
          <a:bodyPr wrap="square" lIns="0" tIns="0" rIns="0" bIns="0" rtlCol="0" anchor="ctr"/>
          <a:lstStyle/>
          <a:p>
            <a:pPr indent="0" marL="0">
              <a:buNone/>
            </a:pPr>
            <a:r>
              <a:rPr lang="en-US" sz="1800" b="1" dirty="0">
                <a:solidFill>
                  <a:srgbClr val="1C1B19"/>
                </a:solidFill>
                <a:latin typeface="Cambria" pitchFamily="34" charset="0"/>
                <a:ea typeface="Cambria" pitchFamily="34" charset="-122"/>
                <a:cs typeface="Cambria" pitchFamily="34" charset="-120"/>
              </a:rPr>
              <a:t>IA + auditoría</a:t>
            </a:r>
            <a:endParaRPr lang="en-US" sz="1800" dirty="0"/>
          </a:p>
        </p:txBody>
      </p:sp>
      <p:sp>
        <p:nvSpPr>
          <p:cNvPr id="15" name="Text 13"/>
          <p:cNvSpPr txBox="1"/>
          <p:nvPr/>
        </p:nvSpPr>
        <p:spPr>
          <a:xfrm>
            <a:off x="3653714" y="5029200"/>
            <a:ext cx="2007794" cy="777240"/>
          </a:xfrm>
          <a:prstGeom prst="rect">
            <a:avLst/>
          </a:prstGeom>
          <a:noFill/>
          <a:ln/>
        </p:spPr>
        <p:txBody>
          <a:bodyPr wrap="square" lIns="0" tIns="0" rIns="0" bIns="0" rtlCol="0" anchor="t"/>
          <a:lstStyle/>
          <a:p>
            <a:pPr indent="0" marL="0">
              <a:buNone/>
            </a:pPr>
            <a:r>
              <a:rPr lang="en-US" sz="1400" dirty="0">
                <a:solidFill>
                  <a:srgbClr val="5A5853"/>
                </a:solidFill>
                <a:latin typeface="Calibri" pitchFamily="34" charset="0"/>
                <a:ea typeface="Calibri" pitchFamily="34" charset="-122"/>
                <a:cs typeface="Calibri" pitchFamily="34" charset="-120"/>
              </a:rPr>
              <a:t>Borradores de IA revisados y corregidos por el equipo</a:t>
            </a:r>
            <a:endParaRPr lang="en-US" sz="1400" dirty="0"/>
          </a:p>
        </p:txBody>
      </p:sp>
      <p:sp>
        <p:nvSpPr>
          <p:cNvPr id="16" name="Text 14"/>
          <p:cNvSpPr txBox="1"/>
          <p:nvPr/>
        </p:nvSpPr>
        <p:spPr>
          <a:xfrm>
            <a:off x="5890108" y="4663440"/>
            <a:ext cx="411480" cy="411480"/>
          </a:xfrm>
          <a:prstGeom prst="rect">
            <a:avLst/>
          </a:prstGeom>
          <a:noFill/>
          <a:ln/>
        </p:spPr>
        <p:txBody>
          <a:bodyPr wrap="square" lIns="0" tIns="0" rIns="0" bIns="0" rtlCol="0" anchor="ctr"/>
          <a:lstStyle/>
          <a:p>
            <a:pPr algn="ctr" indent="0" marL="0">
              <a:buNone/>
            </a:pPr>
            <a:r>
              <a:rPr lang="en-US" sz="2200" dirty="0">
                <a:solidFill>
                  <a:srgbClr val="5A5853"/>
                </a:solidFill>
                <a:latin typeface="Calibri" pitchFamily="34" charset="0"/>
                <a:ea typeface="Calibri" pitchFamily="34" charset="-122"/>
                <a:cs typeface="Calibri" pitchFamily="34" charset="-120"/>
              </a:rPr>
              <a:t>→</a:t>
            </a:r>
            <a:endParaRPr lang="en-US" sz="2200" dirty="0"/>
          </a:p>
        </p:txBody>
      </p:sp>
      <p:sp>
        <p:nvSpPr>
          <p:cNvPr id="17" name="Shape 15"/>
          <p:cNvSpPr/>
          <p:nvPr/>
        </p:nvSpPr>
        <p:spPr>
          <a:xfrm>
            <a:off x="6301588" y="3794760"/>
            <a:ext cx="2464994" cy="2148840"/>
          </a:xfrm>
          <a:prstGeom prst="roundRect">
            <a:avLst>
              <a:gd name="adj" fmla="val 3404"/>
            </a:avLst>
          </a:prstGeom>
          <a:solidFill>
            <a:srgbClr val="F3F2EF"/>
          </a:solidFill>
          <a:ln w="12700">
            <a:solidFill>
              <a:srgbClr val="F3F2EF"/>
            </a:solidFill>
            <a:prstDash val="solid"/>
          </a:ln>
        </p:spPr>
      </p:sp>
      <p:sp>
        <p:nvSpPr>
          <p:cNvPr id="18" name="Shape 16"/>
          <p:cNvSpPr/>
          <p:nvPr/>
        </p:nvSpPr>
        <p:spPr>
          <a:xfrm>
            <a:off x="6530188" y="4023360"/>
            <a:ext cx="457200" cy="457200"/>
          </a:xfrm>
          <a:prstGeom prst="ellipse">
            <a:avLst/>
          </a:prstGeom>
          <a:solidFill>
            <a:srgbClr val="1C1B19"/>
          </a:solidFill>
          <a:ln w="12700">
            <a:solidFill>
              <a:srgbClr val="1C1B19"/>
            </a:solidFill>
            <a:prstDash val="solid"/>
          </a:ln>
        </p:spPr>
      </p:sp>
      <p:sp>
        <p:nvSpPr>
          <p:cNvPr id="19" name="Text 17"/>
          <p:cNvSpPr txBox="1"/>
          <p:nvPr/>
        </p:nvSpPr>
        <p:spPr>
          <a:xfrm>
            <a:off x="6530188" y="40233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20" name="Text 18"/>
          <p:cNvSpPr txBox="1"/>
          <p:nvPr/>
        </p:nvSpPr>
        <p:spPr>
          <a:xfrm>
            <a:off x="6530188" y="4617720"/>
            <a:ext cx="2007794" cy="365760"/>
          </a:xfrm>
          <a:prstGeom prst="rect">
            <a:avLst/>
          </a:prstGeom>
          <a:noFill/>
          <a:ln/>
        </p:spPr>
        <p:txBody>
          <a:bodyPr wrap="square" lIns="0" tIns="0" rIns="0" bIns="0" rtlCol="0" anchor="ctr"/>
          <a:lstStyle/>
          <a:p>
            <a:pPr indent="0" marL="0">
              <a:buNone/>
            </a:pPr>
            <a:r>
              <a:rPr lang="en-US" sz="1800" b="1" dirty="0">
                <a:solidFill>
                  <a:srgbClr val="1C1B19"/>
                </a:solidFill>
                <a:latin typeface="Cambria" pitchFamily="34" charset="0"/>
                <a:ea typeface="Cambria" pitchFamily="34" charset="-122"/>
                <a:cs typeface="Cambria" pitchFamily="34" charset="-120"/>
              </a:rPr>
              <a:t>Modelado</a:t>
            </a:r>
            <a:endParaRPr lang="en-US" sz="1800" dirty="0"/>
          </a:p>
        </p:txBody>
      </p:sp>
      <p:sp>
        <p:nvSpPr>
          <p:cNvPr id="21" name="Text 19"/>
          <p:cNvSpPr txBox="1"/>
          <p:nvPr/>
        </p:nvSpPr>
        <p:spPr>
          <a:xfrm>
            <a:off x="6530188" y="5029200"/>
            <a:ext cx="2007794" cy="777240"/>
          </a:xfrm>
          <a:prstGeom prst="rect">
            <a:avLst/>
          </a:prstGeom>
          <a:noFill/>
          <a:ln/>
        </p:spPr>
        <p:txBody>
          <a:bodyPr wrap="square" lIns="0" tIns="0" rIns="0" bIns="0" rtlCol="0" anchor="t"/>
          <a:lstStyle/>
          <a:p>
            <a:pPr indent="0" marL="0">
              <a:buNone/>
            </a:pPr>
            <a:r>
              <a:rPr lang="en-US" sz="1400" dirty="0">
                <a:solidFill>
                  <a:srgbClr val="5A5853"/>
                </a:solidFill>
                <a:latin typeface="Calibri" pitchFamily="34" charset="0"/>
                <a:ea typeface="Calibri" pitchFamily="34" charset="-122"/>
                <a:cs typeface="Calibri" pitchFamily="34" charset="-120"/>
              </a:rPr>
              <a:t>15 figuras UML en Mermaid bajo IEEE 1016</a:t>
            </a:r>
            <a:endParaRPr lang="en-US" sz="1400" dirty="0"/>
          </a:p>
        </p:txBody>
      </p:sp>
      <p:sp>
        <p:nvSpPr>
          <p:cNvPr id="22" name="Text 20"/>
          <p:cNvSpPr txBox="1"/>
          <p:nvPr/>
        </p:nvSpPr>
        <p:spPr>
          <a:xfrm>
            <a:off x="8766581" y="4663440"/>
            <a:ext cx="411480" cy="411480"/>
          </a:xfrm>
          <a:prstGeom prst="rect">
            <a:avLst/>
          </a:prstGeom>
          <a:noFill/>
          <a:ln/>
        </p:spPr>
        <p:txBody>
          <a:bodyPr wrap="square" lIns="0" tIns="0" rIns="0" bIns="0" rtlCol="0" anchor="ctr"/>
          <a:lstStyle/>
          <a:p>
            <a:pPr algn="ctr" indent="0" marL="0">
              <a:buNone/>
            </a:pPr>
            <a:r>
              <a:rPr lang="en-US" sz="2200" dirty="0">
                <a:solidFill>
                  <a:srgbClr val="5A5853"/>
                </a:solidFill>
                <a:latin typeface="Calibri" pitchFamily="34" charset="0"/>
                <a:ea typeface="Calibri" pitchFamily="34" charset="-122"/>
                <a:cs typeface="Calibri" pitchFamily="34" charset="-120"/>
              </a:rPr>
              <a:t>→</a:t>
            </a:r>
            <a:endParaRPr lang="en-US" sz="2200" dirty="0"/>
          </a:p>
        </p:txBody>
      </p:sp>
      <p:sp>
        <p:nvSpPr>
          <p:cNvPr id="23" name="Shape 21"/>
          <p:cNvSpPr/>
          <p:nvPr/>
        </p:nvSpPr>
        <p:spPr>
          <a:xfrm>
            <a:off x="9178061" y="3794760"/>
            <a:ext cx="2464994" cy="2148840"/>
          </a:xfrm>
          <a:prstGeom prst="roundRect">
            <a:avLst>
              <a:gd name="adj" fmla="val 3404"/>
            </a:avLst>
          </a:prstGeom>
          <a:solidFill>
            <a:srgbClr val="F3F2EF"/>
          </a:solidFill>
          <a:ln w="12700">
            <a:solidFill>
              <a:srgbClr val="F3F2EF"/>
            </a:solidFill>
            <a:prstDash val="solid"/>
          </a:ln>
        </p:spPr>
      </p:sp>
      <p:sp>
        <p:nvSpPr>
          <p:cNvPr id="24" name="Shape 22"/>
          <p:cNvSpPr/>
          <p:nvPr/>
        </p:nvSpPr>
        <p:spPr>
          <a:xfrm>
            <a:off x="9406661" y="4023360"/>
            <a:ext cx="457200" cy="457200"/>
          </a:xfrm>
          <a:prstGeom prst="ellipse">
            <a:avLst/>
          </a:prstGeom>
          <a:solidFill>
            <a:srgbClr val="1C1B19"/>
          </a:solidFill>
          <a:ln w="12700">
            <a:solidFill>
              <a:srgbClr val="1C1B19"/>
            </a:solidFill>
            <a:prstDash val="solid"/>
          </a:ln>
        </p:spPr>
      </p:sp>
      <p:sp>
        <p:nvSpPr>
          <p:cNvPr id="25" name="Text 23"/>
          <p:cNvSpPr txBox="1"/>
          <p:nvPr/>
        </p:nvSpPr>
        <p:spPr>
          <a:xfrm>
            <a:off x="9406661" y="40233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6" name="Text 24"/>
          <p:cNvSpPr txBox="1"/>
          <p:nvPr/>
        </p:nvSpPr>
        <p:spPr>
          <a:xfrm>
            <a:off x="9406661" y="4617720"/>
            <a:ext cx="2007794" cy="365760"/>
          </a:xfrm>
          <a:prstGeom prst="rect">
            <a:avLst/>
          </a:prstGeom>
          <a:noFill/>
          <a:ln/>
        </p:spPr>
        <p:txBody>
          <a:bodyPr wrap="square" lIns="0" tIns="0" rIns="0" bIns="0" rtlCol="0" anchor="ctr"/>
          <a:lstStyle/>
          <a:p>
            <a:pPr indent="0" marL="0">
              <a:buNone/>
            </a:pPr>
            <a:r>
              <a:rPr lang="en-US" sz="1800" b="1" dirty="0">
                <a:solidFill>
                  <a:srgbClr val="1C1B19"/>
                </a:solidFill>
                <a:latin typeface="Cambria" pitchFamily="34" charset="0"/>
                <a:ea typeface="Cambria" pitchFamily="34" charset="-122"/>
                <a:cs typeface="Cambria" pitchFamily="34" charset="-120"/>
              </a:rPr>
              <a:t>Prototipos</a:t>
            </a:r>
            <a:endParaRPr lang="en-US" sz="1800" dirty="0"/>
          </a:p>
        </p:txBody>
      </p:sp>
      <p:sp>
        <p:nvSpPr>
          <p:cNvPr id="27" name="Text 25"/>
          <p:cNvSpPr txBox="1"/>
          <p:nvPr/>
        </p:nvSpPr>
        <p:spPr>
          <a:xfrm>
            <a:off x="9406661" y="5029200"/>
            <a:ext cx="2007794" cy="777240"/>
          </a:xfrm>
          <a:prstGeom prst="rect">
            <a:avLst/>
          </a:prstGeom>
          <a:noFill/>
          <a:ln/>
        </p:spPr>
        <p:txBody>
          <a:bodyPr wrap="square" lIns="0" tIns="0" rIns="0" bIns="0" rtlCol="0" anchor="t"/>
          <a:lstStyle/>
          <a:p>
            <a:pPr indent="0" marL="0">
              <a:buNone/>
            </a:pPr>
            <a:r>
              <a:rPr lang="en-US" sz="1400" dirty="0">
                <a:solidFill>
                  <a:srgbClr val="5A5853"/>
                </a:solidFill>
                <a:latin typeface="Calibri" pitchFamily="34" charset="0"/>
                <a:ea typeface="Calibri" pitchFamily="34" charset="-122"/>
                <a:cs typeface="Calibri" pitchFamily="34" charset="-120"/>
              </a:rPr>
              <a:t>5 pantallas móviles contrastadas con los casos de uso</a:t>
            </a:r>
            <a:endParaRPr lang="en-US" sz="1400" dirty="0"/>
          </a:p>
        </p:txBody>
      </p:sp>
      <p:sp>
        <p:nvSpPr>
          <p:cNvPr id="28" name="Text 26"/>
          <p:cNvSpPr txBox="1"/>
          <p:nvPr/>
        </p:nvSpPr>
        <p:spPr>
          <a:xfrm>
            <a:off x="548640" y="6400800"/>
            <a:ext cx="5486400" cy="228600"/>
          </a:xfrm>
          <a:prstGeom prst="rect">
            <a:avLst/>
          </a:prstGeom>
          <a:noFill/>
          <a:ln/>
        </p:spPr>
        <p:txBody>
          <a:bodyPr wrap="square" lIns="0" tIns="0" rIns="0" bIns="0" rtlCol="0" anchor="ctr"/>
          <a:lstStyle/>
          <a:p>
            <a:pPr indent="0" marL="0">
              <a:buNone/>
            </a:pPr>
            <a:r>
              <a:rPr lang="en-US" sz="1000" dirty="0">
                <a:solidFill>
                  <a:srgbClr val="5A5853"/>
                </a:solidFill>
                <a:latin typeface="Calibri" pitchFamily="34" charset="0"/>
                <a:ea typeface="Calibri" pitchFamily="34" charset="-122"/>
                <a:cs typeface="Calibri" pitchFamily="34" charset="-120"/>
              </a:rPr>
              <a:t>YAPU · Álbum de Modelos UML, Bloque 3</a:t>
            </a:r>
            <a:endParaRPr lang="en-US" sz="1000" dirty="0"/>
          </a:p>
        </p:txBody>
      </p:sp>
      <p:sp>
        <p:nvSpPr>
          <p:cNvPr id="29" name="Text 27"/>
          <p:cNvSpPr txBox="1"/>
          <p:nvPr/>
        </p:nvSpPr>
        <p:spPr>
          <a:xfrm>
            <a:off x="10271455" y="6400800"/>
            <a:ext cx="1371600" cy="228600"/>
          </a:xfrm>
          <a:prstGeom prst="rect">
            <a:avLst/>
          </a:prstGeom>
          <a:noFill/>
          <a:ln/>
        </p:spPr>
        <p:txBody>
          <a:bodyPr wrap="square" lIns="0" tIns="0" rIns="0" bIns="0" rtlCol="0" anchor="ctr"/>
          <a:lstStyle/>
          <a:p>
            <a:pPr algn="r" indent="0" marL="0">
              <a:buNone/>
            </a:pPr>
            <a:r>
              <a:rPr lang="en-US" sz="1000" dirty="0">
                <a:solidFill>
                  <a:srgbClr val="5A5853"/>
                </a:solidFill>
                <a:latin typeface="Calibri" pitchFamily="34" charset="0"/>
                <a:ea typeface="Calibri" pitchFamily="34" charset="-122"/>
                <a:cs typeface="Calibri" pitchFamily="34" charset="-120"/>
              </a:rPr>
              <a:t>3 / 7</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384048"/>
            <a:ext cx="11094415" cy="274320"/>
          </a:xfrm>
          <a:prstGeom prst="rect">
            <a:avLst/>
          </a:prstGeom>
          <a:noFill/>
          <a:ln/>
        </p:spPr>
        <p:txBody>
          <a:bodyPr wrap="square" lIns="0" tIns="0" rIns="0" bIns="0" rtlCol="0" anchor="ctr"/>
          <a:lstStyle/>
          <a:p>
            <a:pPr indent="0" marL="0">
              <a:buNone/>
            </a:pPr>
            <a:r>
              <a:rPr lang="en-US" sz="1200" b="1" spc="200" kern="0" dirty="0">
                <a:solidFill>
                  <a:srgbClr val="A2462B"/>
                </a:solidFill>
                <a:latin typeface="Calibri" pitchFamily="34" charset="0"/>
                <a:ea typeface="Calibri" pitchFamily="34" charset="-122"/>
                <a:cs typeface="Calibri" pitchFamily="34" charset="-120"/>
              </a:rPr>
              <a:t>VISTA FUNCIONAL</a:t>
            </a:r>
            <a:endParaRPr lang="en-US" sz="1200" dirty="0"/>
          </a:p>
        </p:txBody>
      </p:sp>
      <p:sp>
        <p:nvSpPr>
          <p:cNvPr id="3" name="Text 1"/>
          <p:cNvSpPr txBox="1"/>
          <p:nvPr/>
        </p:nvSpPr>
        <p:spPr>
          <a:xfrm>
            <a:off x="548640" y="658368"/>
            <a:ext cx="11094415" cy="685800"/>
          </a:xfrm>
          <a:prstGeom prst="rect">
            <a:avLst/>
          </a:prstGeom>
          <a:noFill/>
          <a:ln/>
        </p:spPr>
        <p:txBody>
          <a:bodyPr wrap="square" lIns="0" tIns="0" rIns="0" bIns="0" rtlCol="0" anchor="t"/>
          <a:lstStyle/>
          <a:p>
            <a:pPr indent="0" marL="0">
              <a:buNone/>
            </a:pPr>
            <a:r>
              <a:rPr lang="en-US" sz="3000" b="1" dirty="0">
                <a:solidFill>
                  <a:srgbClr val="1C1B19"/>
                </a:solidFill>
                <a:latin typeface="Cambria" pitchFamily="34" charset="0"/>
                <a:ea typeface="Cambria" pitchFamily="34" charset="-122"/>
                <a:cs typeface="Cambria" pitchFamily="34" charset="-120"/>
              </a:rPr>
              <a:t>El estudiante recorre 5 casos de uso, del login al tablero</a:t>
            </a:r>
            <a:endParaRPr lang="en-US" sz="3000" dirty="0"/>
          </a:p>
        </p:txBody>
      </p:sp>
      <p:pic>
        <p:nvPicPr>
          <p:cNvPr id="4" name="Image 0" descr="J:\www\Yapu\Docs\actividad3\diagrams\12_casos_de_uso_mvp.png">    </p:cNvPr>
          <p:cNvPicPr>
            <a:picLocks noChangeAspect="1"/>
          </p:cNvPicPr>
          <p:nvPr/>
        </p:nvPicPr>
        <p:blipFill>
          <a:blip r:embed="rId1"/>
          <a:stretch>
            <a:fillRect/>
          </a:stretch>
        </p:blipFill>
        <p:spPr>
          <a:xfrm>
            <a:off x="548640" y="1508760"/>
            <a:ext cx="11094415" cy="1514017"/>
          </a:xfrm>
          <a:prstGeom prst="rect">
            <a:avLst/>
          </a:prstGeom>
        </p:spPr>
      </p:pic>
      <p:sp>
        <p:nvSpPr>
          <p:cNvPr id="5" name="Text 2"/>
          <p:cNvSpPr txBox="1"/>
          <p:nvPr/>
        </p:nvSpPr>
        <p:spPr>
          <a:xfrm>
            <a:off x="548640" y="3095929"/>
            <a:ext cx="7315200" cy="228600"/>
          </a:xfrm>
          <a:prstGeom prst="rect">
            <a:avLst/>
          </a:prstGeom>
          <a:noFill/>
          <a:ln/>
        </p:spPr>
        <p:txBody>
          <a:bodyPr wrap="square" lIns="0" tIns="0" rIns="0" bIns="0" rtlCol="0" anchor="ctr"/>
          <a:lstStyle/>
          <a:p>
            <a:pPr indent="0" marL="0">
              <a:buNone/>
            </a:pPr>
            <a:r>
              <a:rPr lang="en-US" sz="1000" i="1" dirty="0">
                <a:solidFill>
                  <a:srgbClr val="5A5853"/>
                </a:solidFill>
                <a:latin typeface="Calibri" pitchFamily="34" charset="0"/>
                <a:ea typeface="Calibri" pitchFamily="34" charset="-122"/>
                <a:cs typeface="Calibri" pitchFamily="34" charset="-120"/>
              </a:rPr>
              <a:t>Figura 3 del álbum: flujo de casos de uso del estudiante en el MVP</a:t>
            </a:r>
            <a:endParaRPr lang="en-US" sz="1000" dirty="0"/>
          </a:p>
        </p:txBody>
      </p:sp>
      <p:sp>
        <p:nvSpPr>
          <p:cNvPr id="6" name="Text 3"/>
          <p:cNvSpPr txBox="1"/>
          <p:nvPr/>
        </p:nvSpPr>
        <p:spPr>
          <a:xfrm>
            <a:off x="548640" y="3657600"/>
            <a:ext cx="6583680" cy="1920240"/>
          </a:xfrm>
          <a:prstGeom prst="rect">
            <a:avLst/>
          </a:prstGeom>
          <a:noFill/>
          <a:ln/>
        </p:spPr>
        <p:txBody>
          <a:bodyPr wrap="square" lIns="0" tIns="0" rIns="0" bIns="0" rtlCol="0" anchor="ctr"/>
          <a:lstStyle/>
          <a:p>
            <a:pPr indent="0" marL="0">
              <a:lnSpc>
                <a:spcPct val="115000"/>
              </a:lnSpc>
              <a:buNone/>
            </a:pPr>
            <a:r>
              <a:rPr lang="en-US" sz="2000" dirty="0">
                <a:solidFill>
                  <a:srgbClr val="1C1B19"/>
                </a:solidFill>
                <a:latin typeface="Calibri" pitchFamily="34" charset="0"/>
                <a:ea typeface="Calibri" pitchFamily="34" charset="-122"/>
                <a:cs typeface="Calibri" pitchFamily="34" charset="-120"/>
              </a:rPr>
              <a:t>Iniciar sesión → Tablero → Mapa de niveles</a:t>
            </a:r>
            <a:endParaRPr lang="en-US" sz="2000" dirty="0"/>
          </a:p>
          <a:p>
            <a:pPr indent="0" marL="0">
              <a:lnSpc>
                <a:spcPct val="115000"/>
              </a:lnSpc>
              <a:buNone/>
            </a:pPr>
            <a:r>
              <a:rPr lang="en-US" sz="2000" dirty="0">
                <a:solidFill>
                  <a:srgbClr val="1C1B19"/>
                </a:solidFill>
                <a:latin typeface="Calibri" pitchFamily="34" charset="0"/>
                <a:ea typeface="Calibri" pitchFamily="34" charset="-122"/>
                <a:cs typeface="Calibri" pitchFamily="34" charset="-120"/>
              </a:rPr>
              <a:t>→ Lección → Evaluación</a:t>
            </a:r>
            <a:endParaRPr lang="en-US" sz="2000" dirty="0"/>
          </a:p>
          <a:p>
            <a:pPr indent="0" marL="0">
              <a:lnSpc>
                <a:spcPct val="115000"/>
              </a:lnSpc>
              <a:buNone/>
            </a:pPr>
            <a:r>
              <a:rPr lang="en-US" sz="2000" b="1" dirty="0">
                <a:solidFill>
                  <a:srgbClr val="A2462B"/>
                </a:solidFill>
                <a:latin typeface="Calibri" pitchFamily="34" charset="0"/>
                <a:ea typeface="Calibri" pitchFamily="34" charset="-122"/>
                <a:cs typeface="Calibri" pitchFamily="34" charset="-120"/>
              </a:rPr>
              <a:t>Con 70 % o más se desbloquea el siguiente nivel</a:t>
            </a:r>
            <a:endParaRPr lang="en-US" sz="2000" dirty="0"/>
          </a:p>
          <a:p>
            <a:pPr indent="0" marL="0">
              <a:lnSpc>
                <a:spcPct val="115000"/>
              </a:lnSpc>
              <a:buNone/>
            </a:pPr>
            <a:r>
              <a:rPr lang="en-US" sz="2000" dirty="0">
                <a:solidFill>
                  <a:srgbClr val="1C1B19"/>
                </a:solidFill>
                <a:latin typeface="Calibri" pitchFamily="34" charset="0"/>
                <a:ea typeface="Calibri" pitchFamily="34" charset="-122"/>
                <a:cs typeface="Calibri" pitchFamily="34" charset="-120"/>
              </a:rPr>
              <a:t>y el tablero se actualiza.</a:t>
            </a:r>
            <a:endParaRPr lang="en-US" sz="2000" dirty="0"/>
          </a:p>
        </p:txBody>
      </p:sp>
      <p:pic>
        <p:nvPicPr>
          <p:cNvPr id="7" name="Image 1" descr="J:\www\Yapu\Docs\actividad3\diagrams\prototipos\p2_tablero.png">    </p:cNvPr>
          <p:cNvPicPr>
            <a:picLocks noChangeAspect="1"/>
          </p:cNvPicPr>
          <p:nvPr/>
        </p:nvPicPr>
        <p:blipFill>
          <a:blip r:embed="rId2"/>
          <a:stretch>
            <a:fillRect/>
          </a:stretch>
        </p:blipFill>
        <p:spPr>
          <a:xfrm>
            <a:off x="7516965" y="3429000"/>
            <a:ext cx="1162003" cy="2514600"/>
          </a:xfrm>
          <a:prstGeom prst="rect">
            <a:avLst/>
          </a:prstGeom>
        </p:spPr>
      </p:pic>
      <p:sp>
        <p:nvSpPr>
          <p:cNvPr id="8" name="Text 4"/>
          <p:cNvSpPr txBox="1"/>
          <p:nvPr/>
        </p:nvSpPr>
        <p:spPr>
          <a:xfrm>
            <a:off x="7334085" y="5989320"/>
            <a:ext cx="1527763" cy="228600"/>
          </a:xfrm>
          <a:prstGeom prst="rect">
            <a:avLst/>
          </a:prstGeom>
          <a:noFill/>
          <a:ln/>
        </p:spPr>
        <p:txBody>
          <a:bodyPr wrap="square" lIns="0" tIns="0" rIns="0" bIns="0" rtlCol="0" anchor="ctr"/>
          <a:lstStyle/>
          <a:p>
            <a:pPr algn="ctr" indent="0" marL="0">
              <a:buNone/>
            </a:pPr>
            <a:r>
              <a:rPr lang="en-US" sz="1100" dirty="0">
                <a:solidFill>
                  <a:srgbClr val="5A5853"/>
                </a:solidFill>
                <a:latin typeface="Calibri" pitchFamily="34" charset="0"/>
                <a:ea typeface="Calibri" pitchFamily="34" charset="-122"/>
                <a:cs typeface="Calibri" pitchFamily="34" charset="-120"/>
              </a:rPr>
              <a:t>Tablero</a:t>
            </a:r>
            <a:endParaRPr lang="en-US" sz="1100" dirty="0"/>
          </a:p>
        </p:txBody>
      </p:sp>
      <p:pic>
        <p:nvPicPr>
          <p:cNvPr id="9" name="Image 2" descr="J:\www\Yapu\Docs\actividad3\diagrams\prototipos\p3_mapa_niveles.png">    </p:cNvPr>
          <p:cNvPicPr>
            <a:picLocks noChangeAspect="1"/>
          </p:cNvPicPr>
          <p:nvPr/>
        </p:nvPicPr>
        <p:blipFill>
          <a:blip r:embed="rId3"/>
          <a:stretch>
            <a:fillRect/>
          </a:stretch>
        </p:blipFill>
        <p:spPr>
          <a:xfrm>
            <a:off x="8999008" y="3429000"/>
            <a:ext cx="1162003" cy="2514600"/>
          </a:xfrm>
          <a:prstGeom prst="rect">
            <a:avLst/>
          </a:prstGeom>
        </p:spPr>
      </p:pic>
      <p:sp>
        <p:nvSpPr>
          <p:cNvPr id="10" name="Text 5"/>
          <p:cNvSpPr txBox="1"/>
          <p:nvPr/>
        </p:nvSpPr>
        <p:spPr>
          <a:xfrm>
            <a:off x="8816128" y="5989320"/>
            <a:ext cx="1527763" cy="228600"/>
          </a:xfrm>
          <a:prstGeom prst="rect">
            <a:avLst/>
          </a:prstGeom>
          <a:noFill/>
          <a:ln/>
        </p:spPr>
        <p:txBody>
          <a:bodyPr wrap="square" lIns="0" tIns="0" rIns="0" bIns="0" rtlCol="0" anchor="ctr"/>
          <a:lstStyle/>
          <a:p>
            <a:pPr algn="ctr" indent="0" marL="0">
              <a:buNone/>
            </a:pPr>
            <a:r>
              <a:rPr lang="en-US" sz="1100" dirty="0">
                <a:solidFill>
                  <a:srgbClr val="5A5853"/>
                </a:solidFill>
                <a:latin typeface="Calibri" pitchFamily="34" charset="0"/>
                <a:ea typeface="Calibri" pitchFamily="34" charset="-122"/>
                <a:cs typeface="Calibri" pitchFamily="34" charset="-120"/>
              </a:rPr>
              <a:t>Mapa de niveles</a:t>
            </a:r>
            <a:endParaRPr lang="en-US" sz="1100" dirty="0"/>
          </a:p>
        </p:txBody>
      </p:sp>
      <p:pic>
        <p:nvPicPr>
          <p:cNvPr id="11" name="Image 3" descr="J:\www\Yapu\Docs\actividad3\diagrams\prototipos\p5_evaluacion.png">    </p:cNvPr>
          <p:cNvPicPr>
            <a:picLocks noChangeAspect="1"/>
          </p:cNvPicPr>
          <p:nvPr/>
        </p:nvPicPr>
        <p:blipFill>
          <a:blip r:embed="rId4"/>
          <a:stretch>
            <a:fillRect/>
          </a:stretch>
        </p:blipFill>
        <p:spPr>
          <a:xfrm>
            <a:off x="10481052" y="3429000"/>
            <a:ext cx="1162003" cy="2514600"/>
          </a:xfrm>
          <a:prstGeom prst="rect">
            <a:avLst/>
          </a:prstGeom>
        </p:spPr>
      </p:pic>
      <p:sp>
        <p:nvSpPr>
          <p:cNvPr id="12" name="Text 6"/>
          <p:cNvSpPr txBox="1"/>
          <p:nvPr/>
        </p:nvSpPr>
        <p:spPr>
          <a:xfrm>
            <a:off x="10298172" y="5989320"/>
            <a:ext cx="1527763" cy="228600"/>
          </a:xfrm>
          <a:prstGeom prst="rect">
            <a:avLst/>
          </a:prstGeom>
          <a:noFill/>
          <a:ln/>
        </p:spPr>
        <p:txBody>
          <a:bodyPr wrap="square" lIns="0" tIns="0" rIns="0" bIns="0" rtlCol="0" anchor="ctr"/>
          <a:lstStyle/>
          <a:p>
            <a:pPr algn="ctr" indent="0" marL="0">
              <a:buNone/>
            </a:pPr>
            <a:r>
              <a:rPr lang="en-US" sz="1100" dirty="0">
                <a:solidFill>
                  <a:srgbClr val="5A5853"/>
                </a:solidFill>
                <a:latin typeface="Calibri" pitchFamily="34" charset="0"/>
                <a:ea typeface="Calibri" pitchFamily="34" charset="-122"/>
                <a:cs typeface="Calibri" pitchFamily="34" charset="-120"/>
              </a:rPr>
              <a:t>Evaluación</a:t>
            </a:r>
            <a:endParaRPr lang="en-US" sz="1100" dirty="0"/>
          </a:p>
        </p:txBody>
      </p:sp>
      <p:sp>
        <p:nvSpPr>
          <p:cNvPr id="13" name="Text 7"/>
          <p:cNvSpPr txBox="1"/>
          <p:nvPr/>
        </p:nvSpPr>
        <p:spPr>
          <a:xfrm>
            <a:off x="548640" y="6400800"/>
            <a:ext cx="5486400" cy="228600"/>
          </a:xfrm>
          <a:prstGeom prst="rect">
            <a:avLst/>
          </a:prstGeom>
          <a:noFill/>
          <a:ln/>
        </p:spPr>
        <p:txBody>
          <a:bodyPr wrap="square" lIns="0" tIns="0" rIns="0" bIns="0" rtlCol="0" anchor="ctr"/>
          <a:lstStyle/>
          <a:p>
            <a:pPr indent="0" marL="0">
              <a:buNone/>
            </a:pPr>
            <a:r>
              <a:rPr lang="en-US" sz="1000" dirty="0">
                <a:solidFill>
                  <a:srgbClr val="5A5853"/>
                </a:solidFill>
                <a:latin typeface="Calibri" pitchFamily="34" charset="0"/>
                <a:ea typeface="Calibri" pitchFamily="34" charset="-122"/>
                <a:cs typeface="Calibri" pitchFamily="34" charset="-120"/>
              </a:rPr>
              <a:t>YAPU · Álbum de Modelos UML, Bloque 3</a:t>
            </a:r>
            <a:endParaRPr lang="en-US" sz="1000" dirty="0"/>
          </a:p>
        </p:txBody>
      </p:sp>
      <p:sp>
        <p:nvSpPr>
          <p:cNvPr id="14" name="Text 8"/>
          <p:cNvSpPr txBox="1"/>
          <p:nvPr/>
        </p:nvSpPr>
        <p:spPr>
          <a:xfrm>
            <a:off x="10271455" y="6400800"/>
            <a:ext cx="1371600" cy="228600"/>
          </a:xfrm>
          <a:prstGeom prst="rect">
            <a:avLst/>
          </a:prstGeom>
          <a:noFill/>
          <a:ln/>
        </p:spPr>
        <p:txBody>
          <a:bodyPr wrap="square" lIns="0" tIns="0" rIns="0" bIns="0" rtlCol="0" anchor="ctr"/>
          <a:lstStyle/>
          <a:p>
            <a:pPr algn="r" indent="0" marL="0">
              <a:buNone/>
            </a:pPr>
            <a:r>
              <a:rPr lang="en-US" sz="1000" dirty="0">
                <a:solidFill>
                  <a:srgbClr val="5A5853"/>
                </a:solidFill>
                <a:latin typeface="Calibri" pitchFamily="34" charset="0"/>
                <a:ea typeface="Calibri" pitchFamily="34" charset="-122"/>
                <a:cs typeface="Calibri" pitchFamily="34" charset="-120"/>
              </a:rPr>
              <a:t>4 / 7</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384048"/>
            <a:ext cx="11094415" cy="274320"/>
          </a:xfrm>
          <a:prstGeom prst="rect">
            <a:avLst/>
          </a:prstGeom>
          <a:noFill/>
          <a:ln/>
        </p:spPr>
        <p:txBody>
          <a:bodyPr wrap="square" lIns="0" tIns="0" rIns="0" bIns="0" rtlCol="0" anchor="ctr"/>
          <a:lstStyle/>
          <a:p>
            <a:pPr indent="0" marL="0">
              <a:buNone/>
            </a:pPr>
            <a:r>
              <a:rPr lang="en-US" sz="1200" b="1" spc="200" kern="0" dirty="0">
                <a:solidFill>
                  <a:srgbClr val="A2462B"/>
                </a:solidFill>
                <a:latin typeface="Calibri" pitchFamily="34" charset="0"/>
                <a:ea typeface="Calibri" pitchFamily="34" charset="-122"/>
                <a:cs typeface="Calibri" pitchFamily="34" charset="-120"/>
              </a:rPr>
              <a:t>VISTA ESTRUCTURAL</a:t>
            </a:r>
            <a:endParaRPr lang="en-US" sz="1200" dirty="0"/>
          </a:p>
        </p:txBody>
      </p:sp>
      <p:sp>
        <p:nvSpPr>
          <p:cNvPr id="3" name="Text 1"/>
          <p:cNvSpPr txBox="1"/>
          <p:nvPr/>
        </p:nvSpPr>
        <p:spPr>
          <a:xfrm>
            <a:off x="548640" y="658368"/>
            <a:ext cx="11094415" cy="685800"/>
          </a:xfrm>
          <a:prstGeom prst="rect">
            <a:avLst/>
          </a:prstGeom>
          <a:noFill/>
          <a:ln/>
        </p:spPr>
        <p:txBody>
          <a:bodyPr wrap="square" lIns="0" tIns="0" rIns="0" bIns="0" rtlCol="0" anchor="t"/>
          <a:lstStyle/>
          <a:p>
            <a:pPr indent="0" marL="0">
              <a:buNone/>
            </a:pPr>
            <a:r>
              <a:rPr lang="en-US" sz="3000" b="1" dirty="0">
                <a:solidFill>
                  <a:srgbClr val="1C1B19"/>
                </a:solidFill>
                <a:latin typeface="Cambria" pitchFamily="34" charset="0"/>
                <a:ea typeface="Cambria" pitchFamily="34" charset="-122"/>
                <a:cs typeface="Cambria" pitchFamily="34" charset="-120"/>
              </a:rPr>
              <a:t>La arquitectura se organiza en tres capas</a:t>
            </a:r>
            <a:endParaRPr lang="en-US" sz="3000" dirty="0"/>
          </a:p>
        </p:txBody>
      </p:sp>
      <p:pic>
        <p:nvPicPr>
          <p:cNvPr id="4" name="Image 0" descr="J:\www\Yapu\Docs\actividad3\diagrams\11_diagrama_modulos.png">    </p:cNvPr>
          <p:cNvPicPr>
            <a:picLocks noChangeAspect="1"/>
          </p:cNvPicPr>
          <p:nvPr/>
        </p:nvPicPr>
        <p:blipFill>
          <a:blip r:embed="rId1"/>
          <a:stretch>
            <a:fillRect/>
          </a:stretch>
        </p:blipFill>
        <p:spPr>
          <a:xfrm>
            <a:off x="2301088" y="1417320"/>
            <a:ext cx="7589520" cy="3321744"/>
          </a:xfrm>
          <a:prstGeom prst="rect">
            <a:avLst/>
          </a:prstGeom>
        </p:spPr>
      </p:pic>
      <p:sp>
        <p:nvSpPr>
          <p:cNvPr id="5" name="Text 2"/>
          <p:cNvSpPr txBox="1"/>
          <p:nvPr/>
        </p:nvSpPr>
        <p:spPr>
          <a:xfrm>
            <a:off x="2301088" y="4784784"/>
            <a:ext cx="7589520" cy="228600"/>
          </a:xfrm>
          <a:prstGeom prst="rect">
            <a:avLst/>
          </a:prstGeom>
          <a:noFill/>
          <a:ln/>
        </p:spPr>
        <p:txBody>
          <a:bodyPr wrap="square" lIns="0" tIns="0" rIns="0" bIns="0" rtlCol="0" anchor="ctr"/>
          <a:lstStyle/>
          <a:p>
            <a:pPr algn="ctr" indent="0" marL="0">
              <a:buNone/>
            </a:pPr>
            <a:r>
              <a:rPr lang="en-US" sz="1000" i="1" dirty="0">
                <a:solidFill>
                  <a:srgbClr val="5A5853"/>
                </a:solidFill>
                <a:latin typeface="Calibri" pitchFamily="34" charset="0"/>
                <a:ea typeface="Calibri" pitchFamily="34" charset="-122"/>
                <a:cs typeface="Calibri" pitchFamily="34" charset="-120"/>
              </a:rPr>
              <a:t>Figura 11 del álbum: diagrama de módulos</a:t>
            </a:r>
            <a:endParaRPr lang="en-US" sz="1000" dirty="0"/>
          </a:p>
        </p:txBody>
      </p:sp>
      <p:sp>
        <p:nvSpPr>
          <p:cNvPr id="6" name="Shape 3"/>
          <p:cNvSpPr/>
          <p:nvPr/>
        </p:nvSpPr>
        <p:spPr>
          <a:xfrm>
            <a:off x="548640" y="5029200"/>
            <a:ext cx="3515258" cy="868680"/>
          </a:xfrm>
          <a:prstGeom prst="roundRect">
            <a:avLst>
              <a:gd name="adj" fmla="val 6316"/>
            </a:avLst>
          </a:prstGeom>
          <a:solidFill>
            <a:srgbClr val="F3F2EF"/>
          </a:solidFill>
          <a:ln w="12700">
            <a:solidFill>
              <a:srgbClr val="F3F2EF"/>
            </a:solidFill>
            <a:prstDash val="solid"/>
          </a:ln>
        </p:spPr>
      </p:sp>
      <p:sp>
        <p:nvSpPr>
          <p:cNvPr id="7" name="Text 4"/>
          <p:cNvSpPr txBox="1"/>
          <p:nvPr/>
        </p:nvSpPr>
        <p:spPr>
          <a:xfrm>
            <a:off x="731520" y="5120640"/>
            <a:ext cx="3149498" cy="713232"/>
          </a:xfrm>
          <a:prstGeom prst="rect">
            <a:avLst/>
          </a:prstGeom>
          <a:noFill/>
          <a:ln/>
        </p:spPr>
        <p:txBody>
          <a:bodyPr wrap="square" lIns="0" tIns="0" rIns="0" bIns="0" rtlCol="0" anchor="ctr"/>
          <a:lstStyle/>
          <a:p>
            <a:pPr indent="0" marL="0">
              <a:buNone/>
            </a:pPr>
            <a:r>
              <a:rPr lang="en-US" sz="1500" b="1" dirty="0">
                <a:solidFill>
                  <a:srgbClr val="1C1B19"/>
                </a:solidFill>
                <a:latin typeface="Calibri" pitchFamily="34" charset="0"/>
                <a:ea typeface="Calibri" pitchFamily="34" charset="-122"/>
                <a:cs typeface="Calibri" pitchFamily="34" charset="-120"/>
              </a:rPr>
              <a:t>1 · Interfaz PWA en Astro</a:t>
            </a:r>
            <a:endParaRPr lang="en-US" sz="1500" dirty="0"/>
          </a:p>
          <a:p>
            <a:pPr indent="0" marL="0">
              <a:buNone/>
            </a:pPr>
            <a:r>
              <a:rPr lang="en-US" sz="1250" dirty="0">
                <a:solidFill>
                  <a:srgbClr val="5A5853"/>
                </a:solidFill>
                <a:latin typeface="Calibri" pitchFamily="34" charset="0"/>
                <a:ea typeface="Calibri" pitchFamily="34" charset="-122"/>
                <a:cs typeface="Calibri" pitchFamily="34" charset="-120"/>
              </a:rPr>
              <a:t>Pantallas del estudiante, panel docente y comunidad Ayllu</a:t>
            </a:r>
            <a:endParaRPr lang="en-US" sz="1500" dirty="0"/>
          </a:p>
        </p:txBody>
      </p:sp>
      <p:sp>
        <p:nvSpPr>
          <p:cNvPr id="8" name="Shape 5"/>
          <p:cNvSpPr/>
          <p:nvPr/>
        </p:nvSpPr>
        <p:spPr>
          <a:xfrm>
            <a:off x="4338218" y="5029200"/>
            <a:ext cx="3515258" cy="868680"/>
          </a:xfrm>
          <a:prstGeom prst="roundRect">
            <a:avLst>
              <a:gd name="adj" fmla="val 6316"/>
            </a:avLst>
          </a:prstGeom>
          <a:solidFill>
            <a:srgbClr val="F7EFEB"/>
          </a:solidFill>
          <a:ln w="12700">
            <a:solidFill>
              <a:srgbClr val="F7EFEB"/>
            </a:solidFill>
            <a:prstDash val="solid"/>
          </a:ln>
        </p:spPr>
      </p:sp>
      <p:sp>
        <p:nvSpPr>
          <p:cNvPr id="9" name="Text 6"/>
          <p:cNvSpPr txBox="1"/>
          <p:nvPr/>
        </p:nvSpPr>
        <p:spPr>
          <a:xfrm>
            <a:off x="4521098" y="5120640"/>
            <a:ext cx="3149498" cy="713232"/>
          </a:xfrm>
          <a:prstGeom prst="rect">
            <a:avLst/>
          </a:prstGeom>
          <a:noFill/>
          <a:ln/>
        </p:spPr>
        <p:txBody>
          <a:bodyPr wrap="square" lIns="0" tIns="0" rIns="0" bIns="0" rtlCol="0" anchor="ctr"/>
          <a:lstStyle/>
          <a:p>
            <a:pPr indent="0" marL="0">
              <a:buNone/>
            </a:pPr>
            <a:r>
              <a:rPr lang="en-US" sz="1500" b="1" dirty="0">
                <a:solidFill>
                  <a:srgbClr val="A2462B"/>
                </a:solidFill>
                <a:latin typeface="Calibri" pitchFamily="34" charset="0"/>
                <a:ea typeface="Calibri" pitchFamily="34" charset="-122"/>
                <a:cs typeface="Calibri" pitchFamily="34" charset="-120"/>
              </a:rPr>
              <a:t>2 · Módulos core</a:t>
            </a:r>
            <a:endParaRPr lang="en-US" sz="1500" dirty="0"/>
          </a:p>
          <a:p>
            <a:pPr indent="0" marL="0">
              <a:buNone/>
            </a:pPr>
            <a:r>
              <a:rPr lang="en-US" sz="1250" dirty="0">
                <a:solidFill>
                  <a:srgbClr val="5A5853"/>
                </a:solidFill>
                <a:latin typeface="Calibri" pitchFamily="34" charset="0"/>
                <a:ea typeface="Calibri" pitchFamily="34" charset="-122"/>
                <a:cs typeface="Calibri" pitchFamily="34" charset="-120"/>
              </a:rPr>
              <a:t>Usuarios, gamificación, motor de IA determinista y módulo offline</a:t>
            </a:r>
            <a:endParaRPr lang="en-US" sz="1500" dirty="0"/>
          </a:p>
        </p:txBody>
      </p:sp>
      <p:sp>
        <p:nvSpPr>
          <p:cNvPr id="10" name="Shape 7"/>
          <p:cNvSpPr/>
          <p:nvPr/>
        </p:nvSpPr>
        <p:spPr>
          <a:xfrm>
            <a:off x="8127797" y="5029200"/>
            <a:ext cx="3515258" cy="868680"/>
          </a:xfrm>
          <a:prstGeom prst="roundRect">
            <a:avLst>
              <a:gd name="adj" fmla="val 6316"/>
            </a:avLst>
          </a:prstGeom>
          <a:solidFill>
            <a:srgbClr val="F3F2EF"/>
          </a:solidFill>
          <a:ln w="12700">
            <a:solidFill>
              <a:srgbClr val="F3F2EF"/>
            </a:solidFill>
            <a:prstDash val="solid"/>
          </a:ln>
        </p:spPr>
      </p:sp>
      <p:sp>
        <p:nvSpPr>
          <p:cNvPr id="11" name="Text 8"/>
          <p:cNvSpPr txBox="1"/>
          <p:nvPr/>
        </p:nvSpPr>
        <p:spPr>
          <a:xfrm>
            <a:off x="8310677" y="5120640"/>
            <a:ext cx="3149498" cy="713232"/>
          </a:xfrm>
          <a:prstGeom prst="rect">
            <a:avLst/>
          </a:prstGeom>
          <a:noFill/>
          <a:ln/>
        </p:spPr>
        <p:txBody>
          <a:bodyPr wrap="square" lIns="0" tIns="0" rIns="0" bIns="0" rtlCol="0" anchor="ctr"/>
          <a:lstStyle/>
          <a:p>
            <a:pPr indent="0" marL="0">
              <a:buNone/>
            </a:pPr>
            <a:r>
              <a:rPr lang="en-US" sz="1500" b="1" dirty="0">
                <a:solidFill>
                  <a:srgbClr val="1C1B19"/>
                </a:solidFill>
                <a:latin typeface="Calibri" pitchFamily="34" charset="0"/>
                <a:ea typeface="Calibri" pitchFamily="34" charset="-122"/>
                <a:cs typeface="Calibri" pitchFamily="34" charset="-120"/>
              </a:rPr>
              <a:t>3 · Servicios base</a:t>
            </a:r>
            <a:endParaRPr lang="en-US" sz="1500" dirty="0"/>
          </a:p>
          <a:p>
            <a:pPr indent="0" marL="0">
              <a:buNone/>
            </a:pPr>
            <a:r>
              <a:rPr lang="en-US" sz="1250" dirty="0">
                <a:solidFill>
                  <a:srgbClr val="5A5853"/>
                </a:solidFill>
                <a:latin typeface="Calibri" pitchFamily="34" charset="0"/>
                <a:ea typeface="Calibri" pitchFamily="34" charset="-122"/>
                <a:cs typeface="Calibri" pitchFamily="34" charset="-120"/>
              </a:rPr>
              <a:t>Firebase Auth, Cloud Firestore e IndexedDB</a:t>
            </a:r>
            <a:endParaRPr lang="en-US" sz="1500" dirty="0"/>
          </a:p>
        </p:txBody>
      </p:sp>
      <p:sp>
        <p:nvSpPr>
          <p:cNvPr id="12" name="Text 9"/>
          <p:cNvSpPr txBox="1"/>
          <p:nvPr/>
        </p:nvSpPr>
        <p:spPr>
          <a:xfrm>
            <a:off x="548640" y="5989320"/>
            <a:ext cx="7315200" cy="274320"/>
          </a:xfrm>
          <a:prstGeom prst="rect">
            <a:avLst/>
          </a:prstGeom>
          <a:noFill/>
          <a:ln/>
        </p:spPr>
        <p:txBody>
          <a:bodyPr wrap="square" lIns="0" tIns="0" rIns="0" bIns="0" rtlCol="0" anchor="ctr"/>
          <a:lstStyle/>
          <a:p>
            <a:pPr indent="0" marL="0">
              <a:buNone/>
            </a:pPr>
            <a:r>
              <a:rPr lang="en-US" sz="1300" dirty="0">
                <a:solidFill>
                  <a:srgbClr val="5A5853"/>
                </a:solidFill>
                <a:latin typeface="Calibri" pitchFamily="34" charset="0"/>
                <a:ea typeface="Calibri" pitchFamily="34" charset="-122"/>
                <a:cs typeface="Calibri" pitchFamily="34" charset="-120"/>
              </a:rPr>
              <a:t>Clase clave: </a:t>
            </a:r>
            <a:pPr indent="0" marL="0">
              <a:buNone/>
            </a:pPr>
            <a:r>
              <a:rPr lang="en-US" sz="1300" b="1" dirty="0">
                <a:solidFill>
                  <a:srgbClr val="1C1B19"/>
                </a:solidFill>
                <a:latin typeface="Calibri" pitchFamily="34" charset="0"/>
                <a:ea typeface="Calibri" pitchFamily="34" charset="-122"/>
                <a:cs typeface="Calibri" pitchFamily="34" charset="-120"/>
              </a:rPr>
              <a:t>Evaluation</a:t>
            </a:r>
            <a:pPr indent="0" marL="0">
              <a:buNone/>
            </a:pPr>
            <a:r>
              <a:rPr lang="en-US" sz="1300" dirty="0">
                <a:solidFill>
                  <a:srgbClr val="5A5853"/>
                </a:solidFill>
                <a:latin typeface="Calibri" pitchFamily="34" charset="0"/>
                <a:ea typeface="Calibri" pitchFamily="34" charset="-122"/>
                <a:cs typeface="Calibri" pitchFamily="34" charset="-120"/>
              </a:rPr>
              <a:t> compone exactamente 10 </a:t>
            </a:r>
            <a:pPr indent="0" marL="0">
              <a:buNone/>
            </a:pPr>
            <a:r>
              <a:rPr lang="en-US" sz="1300" b="1" dirty="0">
                <a:solidFill>
                  <a:srgbClr val="1C1B19"/>
                </a:solidFill>
                <a:latin typeface="Calibri" pitchFamily="34" charset="0"/>
                <a:ea typeface="Calibri" pitchFamily="34" charset="-122"/>
                <a:cs typeface="Calibri" pitchFamily="34" charset="-120"/>
              </a:rPr>
              <a:t>Question</a:t>
            </a:r>
            <a:pPr indent="0" marL="0">
              <a:buNone/>
            </a:pPr>
            <a:r>
              <a:rPr lang="en-US" sz="1300" dirty="0">
                <a:solidFill>
                  <a:srgbClr val="5A5853"/>
                </a:solidFill>
                <a:latin typeface="Calibri" pitchFamily="34" charset="0"/>
                <a:ea typeface="Calibri" pitchFamily="34" charset="-122"/>
                <a:cs typeface="Calibri" pitchFamily="34" charset="-120"/>
              </a:rPr>
              <a:t> (Figura 9).</a:t>
            </a:r>
            <a:endParaRPr lang="en-US" sz="1300" dirty="0"/>
          </a:p>
        </p:txBody>
      </p:sp>
      <p:sp>
        <p:nvSpPr>
          <p:cNvPr id="13" name="Text 10"/>
          <p:cNvSpPr txBox="1"/>
          <p:nvPr/>
        </p:nvSpPr>
        <p:spPr>
          <a:xfrm>
            <a:off x="548640" y="6400800"/>
            <a:ext cx="5486400" cy="228600"/>
          </a:xfrm>
          <a:prstGeom prst="rect">
            <a:avLst/>
          </a:prstGeom>
          <a:noFill/>
          <a:ln/>
        </p:spPr>
        <p:txBody>
          <a:bodyPr wrap="square" lIns="0" tIns="0" rIns="0" bIns="0" rtlCol="0" anchor="ctr"/>
          <a:lstStyle/>
          <a:p>
            <a:pPr indent="0" marL="0">
              <a:buNone/>
            </a:pPr>
            <a:r>
              <a:rPr lang="en-US" sz="1000" dirty="0">
                <a:solidFill>
                  <a:srgbClr val="5A5853"/>
                </a:solidFill>
                <a:latin typeface="Calibri" pitchFamily="34" charset="0"/>
                <a:ea typeface="Calibri" pitchFamily="34" charset="-122"/>
                <a:cs typeface="Calibri" pitchFamily="34" charset="-120"/>
              </a:rPr>
              <a:t>YAPU · Álbum de Modelos UML, Bloque 3</a:t>
            </a:r>
            <a:endParaRPr lang="en-US" sz="1000" dirty="0"/>
          </a:p>
        </p:txBody>
      </p:sp>
      <p:sp>
        <p:nvSpPr>
          <p:cNvPr id="14" name="Text 11"/>
          <p:cNvSpPr txBox="1"/>
          <p:nvPr/>
        </p:nvSpPr>
        <p:spPr>
          <a:xfrm>
            <a:off x="10271455" y="6400800"/>
            <a:ext cx="1371600" cy="228600"/>
          </a:xfrm>
          <a:prstGeom prst="rect">
            <a:avLst/>
          </a:prstGeom>
          <a:noFill/>
          <a:ln/>
        </p:spPr>
        <p:txBody>
          <a:bodyPr wrap="square" lIns="0" tIns="0" rIns="0" bIns="0" rtlCol="0" anchor="ctr"/>
          <a:lstStyle/>
          <a:p>
            <a:pPr algn="r" indent="0" marL="0">
              <a:buNone/>
            </a:pPr>
            <a:r>
              <a:rPr lang="en-US" sz="1000" dirty="0">
                <a:solidFill>
                  <a:srgbClr val="5A5853"/>
                </a:solidFill>
                <a:latin typeface="Calibri" pitchFamily="34" charset="0"/>
                <a:ea typeface="Calibri" pitchFamily="34" charset="-122"/>
                <a:cs typeface="Calibri" pitchFamily="34" charset="-120"/>
              </a:rPr>
              <a:t>5 / 7</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384048"/>
            <a:ext cx="11094415" cy="274320"/>
          </a:xfrm>
          <a:prstGeom prst="rect">
            <a:avLst/>
          </a:prstGeom>
          <a:noFill/>
          <a:ln/>
        </p:spPr>
        <p:txBody>
          <a:bodyPr wrap="square" lIns="0" tIns="0" rIns="0" bIns="0" rtlCol="0" anchor="ctr"/>
          <a:lstStyle/>
          <a:p>
            <a:pPr indent="0" marL="0">
              <a:buNone/>
            </a:pPr>
            <a:r>
              <a:rPr lang="en-US" sz="1200" b="1" spc="200" kern="0" dirty="0">
                <a:solidFill>
                  <a:srgbClr val="A2462B"/>
                </a:solidFill>
                <a:latin typeface="Calibri" pitchFamily="34" charset="0"/>
                <a:ea typeface="Calibri" pitchFamily="34" charset="-122"/>
                <a:cs typeface="Calibri" pitchFamily="34" charset="-120"/>
              </a:rPr>
              <a:t>VISTA DINÁMICA</a:t>
            </a:r>
            <a:endParaRPr lang="en-US" sz="1200" dirty="0"/>
          </a:p>
        </p:txBody>
      </p:sp>
      <p:sp>
        <p:nvSpPr>
          <p:cNvPr id="3" name="Text 1"/>
          <p:cNvSpPr txBox="1"/>
          <p:nvPr/>
        </p:nvSpPr>
        <p:spPr>
          <a:xfrm>
            <a:off x="548640" y="658368"/>
            <a:ext cx="11094415" cy="685800"/>
          </a:xfrm>
          <a:prstGeom prst="rect">
            <a:avLst/>
          </a:prstGeom>
          <a:noFill/>
          <a:ln/>
        </p:spPr>
        <p:txBody>
          <a:bodyPr wrap="square" lIns="0" tIns="0" rIns="0" bIns="0" rtlCol="0" anchor="t"/>
          <a:lstStyle/>
          <a:p>
            <a:pPr indent="0" marL="0">
              <a:buNone/>
            </a:pPr>
            <a:r>
              <a:rPr lang="en-US" sz="3000" b="1" dirty="0">
                <a:solidFill>
                  <a:srgbClr val="1C1B19"/>
                </a:solidFill>
                <a:latin typeface="Cambria" pitchFamily="34" charset="0"/>
                <a:ea typeface="Cambria" pitchFamily="34" charset="-122"/>
                <a:cs typeface="Cambria" pitchFamily="34" charset="-120"/>
              </a:rPr>
              <a:t>La evaluación se genera y se califica sin conexión</a:t>
            </a:r>
            <a:endParaRPr lang="en-US" sz="3000" dirty="0"/>
          </a:p>
        </p:txBody>
      </p:sp>
      <p:pic>
        <p:nvPicPr>
          <p:cNvPr id="4" name="Image 0" descr="J:\www\Yapu\Docs\actividad3\presentacion\img\secuencia_resumen.png">    </p:cNvPr>
          <p:cNvPicPr>
            <a:picLocks noChangeAspect="1"/>
          </p:cNvPicPr>
          <p:nvPr/>
        </p:nvPicPr>
        <p:blipFill>
          <a:blip r:embed="rId1"/>
          <a:stretch>
            <a:fillRect/>
          </a:stretch>
        </p:blipFill>
        <p:spPr>
          <a:xfrm>
            <a:off x="548640" y="1463040"/>
            <a:ext cx="7223760" cy="3935010"/>
          </a:xfrm>
          <a:prstGeom prst="rect">
            <a:avLst/>
          </a:prstGeom>
        </p:spPr>
      </p:pic>
      <p:sp>
        <p:nvSpPr>
          <p:cNvPr id="5" name="Text 2"/>
          <p:cNvSpPr txBox="1"/>
          <p:nvPr/>
        </p:nvSpPr>
        <p:spPr>
          <a:xfrm>
            <a:off x="548640" y="5471202"/>
            <a:ext cx="7223760" cy="228600"/>
          </a:xfrm>
          <a:prstGeom prst="rect">
            <a:avLst/>
          </a:prstGeom>
          <a:noFill/>
          <a:ln/>
        </p:spPr>
        <p:txBody>
          <a:bodyPr wrap="square" lIns="0" tIns="0" rIns="0" bIns="0" rtlCol="0" anchor="ctr"/>
          <a:lstStyle/>
          <a:p>
            <a:pPr indent="0" marL="0">
              <a:buNone/>
            </a:pPr>
            <a:r>
              <a:rPr lang="en-US" sz="1000" i="1" dirty="0">
                <a:solidFill>
                  <a:srgbClr val="5A5853"/>
                </a:solidFill>
                <a:latin typeface="Calibri" pitchFamily="34" charset="0"/>
                <a:ea typeface="Calibri" pitchFamily="34" charset="-122"/>
                <a:cs typeface="Calibri" pitchFamily="34" charset="-120"/>
              </a:rPr>
              <a:t>Resumen de la Figura 12 del álbum (fases 3 a 5)</a:t>
            </a:r>
            <a:endParaRPr lang="en-US" sz="1000" dirty="0"/>
          </a:p>
        </p:txBody>
      </p:sp>
      <p:sp>
        <p:nvSpPr>
          <p:cNvPr id="6" name="Shape 3"/>
          <p:cNvSpPr/>
          <p:nvPr/>
        </p:nvSpPr>
        <p:spPr>
          <a:xfrm>
            <a:off x="8183880" y="1554480"/>
            <a:ext cx="365760" cy="365760"/>
          </a:xfrm>
          <a:prstGeom prst="ellipse">
            <a:avLst/>
          </a:prstGeom>
          <a:solidFill>
            <a:srgbClr val="1C1B19"/>
          </a:solidFill>
          <a:ln w="12700">
            <a:solidFill>
              <a:srgbClr val="1C1B19"/>
            </a:solidFill>
            <a:prstDash val="solid"/>
          </a:ln>
        </p:spPr>
      </p:sp>
      <p:sp>
        <p:nvSpPr>
          <p:cNvPr id="7" name="Text 4"/>
          <p:cNvSpPr txBox="1"/>
          <p:nvPr/>
        </p:nvSpPr>
        <p:spPr>
          <a:xfrm>
            <a:off x="8183880" y="155448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5"/>
          <p:cNvSpPr txBox="1"/>
          <p:nvPr/>
        </p:nvSpPr>
        <p:spPr>
          <a:xfrm>
            <a:off x="8686800" y="1517904"/>
            <a:ext cx="2956255" cy="640080"/>
          </a:xfrm>
          <a:prstGeom prst="rect">
            <a:avLst/>
          </a:prstGeom>
          <a:noFill/>
          <a:ln/>
        </p:spPr>
        <p:txBody>
          <a:bodyPr wrap="square" lIns="0" tIns="0" rIns="0" bIns="0" rtlCol="0" anchor="t"/>
          <a:lstStyle/>
          <a:p>
            <a:pPr indent="0" marL="0">
              <a:buNone/>
            </a:pPr>
            <a:r>
              <a:rPr lang="en-US" sz="1600" dirty="0">
                <a:solidFill>
                  <a:srgbClr val="1C1B19"/>
                </a:solidFill>
                <a:latin typeface="Calibri" pitchFamily="34" charset="0"/>
                <a:ea typeface="Calibri" pitchFamily="34" charset="-122"/>
                <a:cs typeface="Calibri" pitchFamily="34" charset="-120"/>
              </a:rPr>
              <a:t>Se cargan las oraciones guardadas en caché.</a:t>
            </a:r>
            <a:endParaRPr lang="en-US" sz="1600" dirty="0"/>
          </a:p>
        </p:txBody>
      </p:sp>
      <p:sp>
        <p:nvSpPr>
          <p:cNvPr id="9" name="Shape 6"/>
          <p:cNvSpPr/>
          <p:nvPr/>
        </p:nvSpPr>
        <p:spPr>
          <a:xfrm>
            <a:off x="8183880" y="2267712"/>
            <a:ext cx="365760" cy="365760"/>
          </a:xfrm>
          <a:prstGeom prst="ellipse">
            <a:avLst/>
          </a:prstGeom>
          <a:solidFill>
            <a:srgbClr val="1C1B19"/>
          </a:solidFill>
          <a:ln w="12700">
            <a:solidFill>
              <a:srgbClr val="1C1B19"/>
            </a:solidFill>
            <a:prstDash val="solid"/>
          </a:ln>
        </p:spPr>
      </p:sp>
      <p:sp>
        <p:nvSpPr>
          <p:cNvPr id="10" name="Text 7"/>
          <p:cNvSpPr txBox="1"/>
          <p:nvPr/>
        </p:nvSpPr>
        <p:spPr>
          <a:xfrm>
            <a:off x="8183880" y="2267712"/>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1" name="Text 8"/>
          <p:cNvSpPr txBox="1"/>
          <p:nvPr/>
        </p:nvSpPr>
        <p:spPr>
          <a:xfrm>
            <a:off x="8686800" y="2231136"/>
            <a:ext cx="2956255" cy="640080"/>
          </a:xfrm>
          <a:prstGeom prst="rect">
            <a:avLst/>
          </a:prstGeom>
          <a:noFill/>
          <a:ln/>
        </p:spPr>
        <p:txBody>
          <a:bodyPr wrap="square" lIns="0" tIns="0" rIns="0" bIns="0" rtlCol="0" anchor="t"/>
          <a:lstStyle/>
          <a:p>
            <a:pPr indent="0" marL="0">
              <a:buNone/>
            </a:pPr>
            <a:r>
              <a:rPr lang="en-US" sz="1600" dirty="0">
                <a:solidFill>
                  <a:srgbClr val="1C1B19"/>
                </a:solidFill>
                <a:latin typeface="Calibri" pitchFamily="34" charset="0"/>
                <a:ea typeface="Calibri" pitchFamily="34" charset="-122"/>
                <a:cs typeface="Calibri" pitchFamily="34" charset="-120"/>
              </a:rPr>
              <a:t>El motor genera 10 preguntas en el dispositivo.</a:t>
            </a:r>
            <a:endParaRPr lang="en-US" sz="1600" dirty="0"/>
          </a:p>
        </p:txBody>
      </p:sp>
      <p:sp>
        <p:nvSpPr>
          <p:cNvPr id="12" name="Shape 9"/>
          <p:cNvSpPr/>
          <p:nvPr/>
        </p:nvSpPr>
        <p:spPr>
          <a:xfrm>
            <a:off x="8183880" y="2980944"/>
            <a:ext cx="365760" cy="365760"/>
          </a:xfrm>
          <a:prstGeom prst="ellipse">
            <a:avLst/>
          </a:prstGeom>
          <a:solidFill>
            <a:srgbClr val="1C1B19"/>
          </a:solidFill>
          <a:ln w="12700">
            <a:solidFill>
              <a:srgbClr val="1C1B19"/>
            </a:solidFill>
            <a:prstDash val="solid"/>
          </a:ln>
        </p:spPr>
      </p:sp>
      <p:sp>
        <p:nvSpPr>
          <p:cNvPr id="13" name="Text 10"/>
          <p:cNvSpPr txBox="1"/>
          <p:nvPr/>
        </p:nvSpPr>
        <p:spPr>
          <a:xfrm>
            <a:off x="8183880" y="2980944"/>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4" name="Text 11"/>
          <p:cNvSpPr txBox="1"/>
          <p:nvPr/>
        </p:nvSpPr>
        <p:spPr>
          <a:xfrm>
            <a:off x="8686800" y="2944368"/>
            <a:ext cx="2956255" cy="640080"/>
          </a:xfrm>
          <a:prstGeom prst="rect">
            <a:avLst/>
          </a:prstGeom>
          <a:noFill/>
          <a:ln/>
        </p:spPr>
        <p:txBody>
          <a:bodyPr wrap="square" lIns="0" tIns="0" rIns="0" bIns="0" rtlCol="0" anchor="t"/>
          <a:lstStyle/>
          <a:p>
            <a:pPr indent="0" marL="0">
              <a:buNone/>
            </a:pPr>
            <a:r>
              <a:rPr lang="en-US" sz="1600" dirty="0">
                <a:solidFill>
                  <a:srgbClr val="1C1B19"/>
                </a:solidFill>
                <a:latin typeface="Calibri" pitchFamily="34" charset="0"/>
                <a:ea typeface="Calibri" pitchFamily="34" charset="-122"/>
                <a:cs typeface="Calibri" pitchFamily="34" charset="-120"/>
              </a:rPr>
              <a:t>Se califica: 8 de 10, 80 %, aprobado.</a:t>
            </a:r>
            <a:endParaRPr lang="en-US" sz="1600" dirty="0"/>
          </a:p>
        </p:txBody>
      </p:sp>
      <p:sp>
        <p:nvSpPr>
          <p:cNvPr id="15" name="Shape 12"/>
          <p:cNvSpPr/>
          <p:nvPr/>
        </p:nvSpPr>
        <p:spPr>
          <a:xfrm>
            <a:off x="8183880" y="3694176"/>
            <a:ext cx="365760" cy="365760"/>
          </a:xfrm>
          <a:prstGeom prst="ellipse">
            <a:avLst/>
          </a:prstGeom>
          <a:solidFill>
            <a:srgbClr val="1C1B19"/>
          </a:solidFill>
          <a:ln w="12700">
            <a:solidFill>
              <a:srgbClr val="1C1B19"/>
            </a:solidFill>
            <a:prstDash val="solid"/>
          </a:ln>
        </p:spPr>
      </p:sp>
      <p:sp>
        <p:nvSpPr>
          <p:cNvPr id="16" name="Text 13"/>
          <p:cNvSpPr txBox="1"/>
          <p:nvPr/>
        </p:nvSpPr>
        <p:spPr>
          <a:xfrm>
            <a:off x="8183880" y="3694176"/>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7" name="Text 14"/>
          <p:cNvSpPr txBox="1"/>
          <p:nvPr/>
        </p:nvSpPr>
        <p:spPr>
          <a:xfrm>
            <a:off x="8686800" y="3657600"/>
            <a:ext cx="2956255" cy="640080"/>
          </a:xfrm>
          <a:prstGeom prst="rect">
            <a:avLst/>
          </a:prstGeom>
          <a:noFill/>
          <a:ln/>
        </p:spPr>
        <p:txBody>
          <a:bodyPr wrap="square" lIns="0" tIns="0" rIns="0" bIns="0" rtlCol="0" anchor="t"/>
          <a:lstStyle/>
          <a:p>
            <a:pPr indent="0" marL="0">
              <a:buNone/>
            </a:pPr>
            <a:r>
              <a:rPr lang="en-US" sz="1600" dirty="0">
                <a:solidFill>
                  <a:srgbClr val="1C1B19"/>
                </a:solidFill>
                <a:latin typeface="Calibri" pitchFamily="34" charset="0"/>
                <a:ea typeface="Calibri" pitchFamily="34" charset="-122"/>
                <a:cs typeface="Calibri" pitchFamily="34" charset="-120"/>
              </a:rPr>
              <a:t>Al volver la conexión, se sincroniza con Firestore.</a:t>
            </a:r>
            <a:endParaRPr lang="en-US" sz="1600" dirty="0"/>
          </a:p>
        </p:txBody>
      </p:sp>
      <p:sp>
        <p:nvSpPr>
          <p:cNvPr id="18" name="Shape 15"/>
          <p:cNvSpPr/>
          <p:nvPr/>
        </p:nvSpPr>
        <p:spPr>
          <a:xfrm>
            <a:off x="8183880" y="4526280"/>
            <a:ext cx="3459175" cy="1325880"/>
          </a:xfrm>
          <a:prstGeom prst="roundRect">
            <a:avLst>
              <a:gd name="adj" fmla="val 4138"/>
            </a:avLst>
          </a:prstGeom>
          <a:solidFill>
            <a:srgbClr val="F7EFEB"/>
          </a:solidFill>
          <a:ln w="12700">
            <a:solidFill>
              <a:srgbClr val="F7EFEB"/>
            </a:solidFill>
            <a:prstDash val="solid"/>
          </a:ln>
        </p:spPr>
      </p:sp>
      <p:sp>
        <p:nvSpPr>
          <p:cNvPr id="19" name="Text 16"/>
          <p:cNvSpPr txBox="1"/>
          <p:nvPr/>
        </p:nvSpPr>
        <p:spPr>
          <a:xfrm>
            <a:off x="8366760" y="4617720"/>
            <a:ext cx="3093415" cy="1143000"/>
          </a:xfrm>
          <a:prstGeom prst="rect">
            <a:avLst/>
          </a:prstGeom>
          <a:noFill/>
          <a:ln/>
        </p:spPr>
        <p:txBody>
          <a:bodyPr wrap="square" lIns="0" tIns="0" rIns="0" bIns="0" rtlCol="0" anchor="ctr"/>
          <a:lstStyle/>
          <a:p>
            <a:pPr indent="0" marL="0">
              <a:spcAft>
                <a:spcPts val="400"/>
              </a:spcAft>
              <a:buNone/>
            </a:pPr>
            <a:r>
              <a:rPr lang="en-US" sz="1200" b="1" spc="200" kern="0" dirty="0">
                <a:solidFill>
                  <a:srgbClr val="A2462B"/>
                </a:solidFill>
                <a:latin typeface="Calibri" pitchFamily="34" charset="0"/>
                <a:ea typeface="Calibri" pitchFamily="34" charset="-122"/>
                <a:cs typeface="Calibri" pitchFamily="34" charset="-120"/>
              </a:rPr>
              <a:t>DECISIÓN CLAVE</a:t>
            </a:r>
            <a:endParaRPr lang="en-US" sz="1200" dirty="0"/>
          </a:p>
          <a:p>
            <a:pPr indent="0" marL="0">
              <a:spcAft>
                <a:spcPts val="400"/>
              </a:spcAft>
              <a:buNone/>
            </a:pPr>
            <a:r>
              <a:rPr lang="en-US" sz="1600" dirty="0">
                <a:solidFill>
                  <a:srgbClr val="1C1B19"/>
                </a:solidFill>
                <a:latin typeface="Calibri" pitchFamily="34" charset="0"/>
                <a:ea typeface="Calibri" pitchFamily="34" charset="-122"/>
                <a:cs typeface="Calibri" pitchFamily="34" charset="-120"/>
              </a:rPr>
              <a:t>Sin LLM: costo de API cero, 100 % offline y ninguna alucinación.</a:t>
            </a:r>
            <a:endParaRPr lang="en-US" sz="1200" dirty="0"/>
          </a:p>
        </p:txBody>
      </p:sp>
      <p:sp>
        <p:nvSpPr>
          <p:cNvPr id="20" name="Text 17"/>
          <p:cNvSpPr txBox="1"/>
          <p:nvPr/>
        </p:nvSpPr>
        <p:spPr>
          <a:xfrm>
            <a:off x="548640" y="6400800"/>
            <a:ext cx="5486400" cy="228600"/>
          </a:xfrm>
          <a:prstGeom prst="rect">
            <a:avLst/>
          </a:prstGeom>
          <a:noFill/>
          <a:ln/>
        </p:spPr>
        <p:txBody>
          <a:bodyPr wrap="square" lIns="0" tIns="0" rIns="0" bIns="0" rtlCol="0" anchor="ctr"/>
          <a:lstStyle/>
          <a:p>
            <a:pPr indent="0" marL="0">
              <a:buNone/>
            </a:pPr>
            <a:r>
              <a:rPr lang="en-US" sz="1000" dirty="0">
                <a:solidFill>
                  <a:srgbClr val="5A5853"/>
                </a:solidFill>
                <a:latin typeface="Calibri" pitchFamily="34" charset="0"/>
                <a:ea typeface="Calibri" pitchFamily="34" charset="-122"/>
                <a:cs typeface="Calibri" pitchFamily="34" charset="-120"/>
              </a:rPr>
              <a:t>YAPU · Álbum de Modelos UML, Bloque 3</a:t>
            </a:r>
            <a:endParaRPr lang="en-US" sz="1000" dirty="0"/>
          </a:p>
        </p:txBody>
      </p:sp>
      <p:sp>
        <p:nvSpPr>
          <p:cNvPr id="21" name="Text 18"/>
          <p:cNvSpPr txBox="1"/>
          <p:nvPr/>
        </p:nvSpPr>
        <p:spPr>
          <a:xfrm>
            <a:off x="10271455" y="6400800"/>
            <a:ext cx="1371600" cy="228600"/>
          </a:xfrm>
          <a:prstGeom prst="rect">
            <a:avLst/>
          </a:prstGeom>
          <a:noFill/>
          <a:ln/>
        </p:spPr>
        <p:txBody>
          <a:bodyPr wrap="square" lIns="0" tIns="0" rIns="0" bIns="0" rtlCol="0" anchor="ctr"/>
          <a:lstStyle/>
          <a:p>
            <a:pPr algn="r" indent="0" marL="0">
              <a:buNone/>
            </a:pPr>
            <a:r>
              <a:rPr lang="en-US" sz="1000" dirty="0">
                <a:solidFill>
                  <a:srgbClr val="5A5853"/>
                </a:solidFill>
                <a:latin typeface="Calibri" pitchFamily="34" charset="0"/>
                <a:ea typeface="Calibri" pitchFamily="34" charset="-122"/>
                <a:cs typeface="Calibri" pitchFamily="34" charset="-120"/>
              </a:rPr>
              <a:t>6 / 7</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384048"/>
            <a:ext cx="11094415" cy="274320"/>
          </a:xfrm>
          <a:prstGeom prst="rect">
            <a:avLst/>
          </a:prstGeom>
          <a:noFill/>
          <a:ln/>
        </p:spPr>
        <p:txBody>
          <a:bodyPr wrap="square" lIns="0" tIns="0" rIns="0" bIns="0" rtlCol="0" anchor="ctr"/>
          <a:lstStyle/>
          <a:p>
            <a:pPr indent="0" marL="0">
              <a:buNone/>
            </a:pPr>
            <a:r>
              <a:rPr lang="en-US" sz="1200" b="1" spc="200" kern="0" dirty="0">
                <a:solidFill>
                  <a:srgbClr val="A2462B"/>
                </a:solidFill>
                <a:latin typeface="Calibri" pitchFamily="34" charset="0"/>
                <a:ea typeface="Calibri" pitchFamily="34" charset="-122"/>
                <a:cs typeface="Calibri" pitchFamily="34" charset="-120"/>
              </a:rPr>
              <a:t>TRAZABILIDAD Y GOBERNANZA</a:t>
            </a:r>
            <a:endParaRPr lang="en-US" sz="1200" dirty="0"/>
          </a:p>
        </p:txBody>
      </p:sp>
      <p:sp>
        <p:nvSpPr>
          <p:cNvPr id="3" name="Text 1"/>
          <p:cNvSpPr txBox="1"/>
          <p:nvPr/>
        </p:nvSpPr>
        <p:spPr>
          <a:xfrm>
            <a:off x="548640" y="658368"/>
            <a:ext cx="11094415" cy="685800"/>
          </a:xfrm>
          <a:prstGeom prst="rect">
            <a:avLst/>
          </a:prstGeom>
          <a:noFill/>
          <a:ln/>
        </p:spPr>
        <p:txBody>
          <a:bodyPr wrap="square" lIns="0" tIns="0" rIns="0" bIns="0" rtlCol="0" anchor="t"/>
          <a:lstStyle/>
          <a:p>
            <a:pPr indent="0" marL="0">
              <a:buNone/>
            </a:pPr>
            <a:r>
              <a:rPr lang="en-US" sz="3000" b="1" dirty="0">
                <a:solidFill>
                  <a:srgbClr val="1C1B19"/>
                </a:solidFill>
                <a:latin typeface="Cambria" pitchFamily="34" charset="0"/>
                <a:ea typeface="Cambria" pitchFamily="34" charset="-122"/>
                <a:cs typeface="Cambria" pitchFamily="34" charset="-120"/>
              </a:rPr>
              <a:t>Cada requisito está trazado y cada aporte de la IA, auditado</a:t>
            </a:r>
            <a:endParaRPr lang="en-US" sz="30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94415" cy="914400"/>
        </p:xfrm>
        <a:graphic>
          <a:graphicData uri="http://schemas.openxmlformats.org/drawingml/2006/table">
            <a:tbl>
              <a:tblPr/>
              <a:tblGrid>
                <a:gridCol w="2103120"/>
                <a:gridCol w="1188720"/>
                <a:gridCol w="3566160"/>
                <a:gridCol w="2560320"/>
                <a:gridCol w="1673352"/>
              </a:tblGrid>
              <a:tr h="411480">
                <a:tc>
                  <a:txBody>
                    <a:bodyPr/>
                    <a:lstStyle/>
                    <a:p>
                      <a:pPr indent="0" marL="0">
                        <a:buNone/>
                      </a:pPr>
                      <a:r>
                        <a:rPr lang="en-US" sz="1500" b="1" dirty="0">
                          <a:solidFill>
                            <a:srgbClr val="1C1B19"/>
                          </a:solidFill>
                          <a:latin typeface="Calibri" pitchFamily="34" charset="0"/>
                          <a:ea typeface="Calibri" pitchFamily="34" charset="-122"/>
                          <a:cs typeface="Calibri" pitchFamily="34" charset="-120"/>
                        </a:rPr>
                        <a:t>Requisito</a:t>
                      </a:r>
                      <a:endParaRPr lang="en-US" sz="1500" dirty="0">
                        <a:latin typeface="Calibri" charset="0"/>
                        <a:ea typeface="Calibri" charset="0"/>
                        <a:cs typeface="Calibri" charset="0"/>
                      </a:endParaRPr>
                    </a:p>
                  </a:txBody>
                  <a:tcPr marL="76200" marR="76200" marT="50800" marB="50800" anchor="ctr">
                    <a:lnL w="0" cap="flat" cmpd="sng" algn="ctr">
                      <a:noFill/>
                    </a:lnL>
                    <a:lnR w="0" cap="flat" cmpd="sng" algn="ctr">
                      <a:noFill/>
                    </a:lnR>
                    <a:lnT w="19050" cap="flat" cmpd="sng" algn="ctr">
                      <a:solidFill>
                        <a:srgbClr val="1C1B19"/>
                      </a:solidFill>
                      <a:prstDash val="solid"/>
                      <a:round/>
                      <a:headEnd type="none" w="med" len="med"/>
                      <a:tailEnd type="none" w="med" len="med"/>
                    </a:lnT>
                    <a:lnB w="9525" cap="flat" cmpd="sng" algn="ctr">
                      <a:solidFill>
                        <a:srgbClr val="1C1B19"/>
                      </a:solidFill>
                      <a:prstDash val="solid"/>
                      <a:round/>
                      <a:headEnd type="none" w="med" len="med"/>
                      <a:tailEnd type="none" w="med" len="med"/>
                    </a:lnB>
                  </a:tcPr>
                </a:tc>
                <a:tc>
                  <a:txBody>
                    <a:bodyPr/>
                    <a:lstStyle/>
                    <a:p>
                      <a:pPr indent="0" marL="0">
                        <a:buNone/>
                      </a:pPr>
                      <a:r>
                        <a:rPr lang="en-US" sz="1500" b="1" dirty="0">
                          <a:solidFill>
                            <a:srgbClr val="1C1B19"/>
                          </a:solidFill>
                          <a:latin typeface="Calibri" pitchFamily="34" charset="0"/>
                          <a:ea typeface="Calibri" pitchFamily="34" charset="-122"/>
                          <a:cs typeface="Calibri" pitchFamily="34" charset="-120"/>
                        </a:rPr>
                        <a:t>Caso de uso</a:t>
                      </a:r>
                      <a:endParaRPr lang="en-US" sz="1500" dirty="0">
                        <a:latin typeface="Calibri" charset="0"/>
                        <a:ea typeface="Calibri" charset="0"/>
                        <a:cs typeface="Calibri" charset="0"/>
                      </a:endParaRPr>
                    </a:p>
                  </a:txBody>
                  <a:tcPr marL="76200" marR="76200" marT="50800" marB="50800" anchor="ctr">
                    <a:lnL w="0" cap="flat" cmpd="sng" algn="ctr">
                      <a:noFill/>
                    </a:lnL>
                    <a:lnR w="0" cap="flat" cmpd="sng" algn="ctr">
                      <a:noFill/>
                    </a:lnR>
                    <a:lnT w="19050" cap="flat" cmpd="sng" algn="ctr">
                      <a:solidFill>
                        <a:srgbClr val="1C1B19"/>
                      </a:solidFill>
                      <a:prstDash val="solid"/>
                      <a:round/>
                      <a:headEnd type="none" w="med" len="med"/>
                      <a:tailEnd type="none" w="med" len="med"/>
                    </a:lnT>
                    <a:lnB w="9525" cap="flat" cmpd="sng" algn="ctr">
                      <a:solidFill>
                        <a:srgbClr val="1C1B19"/>
                      </a:solidFill>
                      <a:prstDash val="solid"/>
                      <a:round/>
                      <a:headEnd type="none" w="med" len="med"/>
                      <a:tailEnd type="none" w="med" len="med"/>
                    </a:lnB>
                  </a:tcPr>
                </a:tc>
                <a:tc>
                  <a:txBody>
                    <a:bodyPr/>
                    <a:lstStyle/>
                    <a:p>
                      <a:pPr indent="0" marL="0">
                        <a:buNone/>
                      </a:pPr>
                      <a:r>
                        <a:rPr lang="en-US" sz="1500" b="1" dirty="0">
                          <a:solidFill>
                            <a:srgbClr val="1C1B19"/>
                          </a:solidFill>
                          <a:latin typeface="Calibri" pitchFamily="34" charset="0"/>
                          <a:ea typeface="Calibri" pitchFamily="34" charset="-122"/>
                          <a:cs typeface="Calibri" pitchFamily="34" charset="-120"/>
                        </a:rPr>
                        <a:t>Clases y entidades</a:t>
                      </a:r>
                      <a:endParaRPr lang="en-US" sz="1500" dirty="0">
                        <a:latin typeface="Calibri" charset="0"/>
                        <a:ea typeface="Calibri" charset="0"/>
                        <a:cs typeface="Calibri" charset="0"/>
                      </a:endParaRPr>
                    </a:p>
                  </a:txBody>
                  <a:tcPr marL="76200" marR="76200" marT="50800" marB="50800" anchor="ctr">
                    <a:lnL w="0" cap="flat" cmpd="sng" algn="ctr">
                      <a:noFill/>
                    </a:lnL>
                    <a:lnR w="0" cap="flat" cmpd="sng" algn="ctr">
                      <a:noFill/>
                    </a:lnR>
                    <a:lnT w="19050" cap="flat" cmpd="sng" algn="ctr">
                      <a:solidFill>
                        <a:srgbClr val="1C1B19"/>
                      </a:solidFill>
                      <a:prstDash val="solid"/>
                      <a:round/>
                      <a:headEnd type="none" w="med" len="med"/>
                      <a:tailEnd type="none" w="med" len="med"/>
                    </a:lnT>
                    <a:lnB w="9525" cap="flat" cmpd="sng" algn="ctr">
                      <a:solidFill>
                        <a:srgbClr val="1C1B19"/>
                      </a:solidFill>
                      <a:prstDash val="solid"/>
                      <a:round/>
                      <a:headEnd type="none" w="med" len="med"/>
                      <a:tailEnd type="none" w="med" len="med"/>
                    </a:lnB>
                  </a:tcPr>
                </a:tc>
                <a:tc>
                  <a:txBody>
                    <a:bodyPr/>
                    <a:lstStyle/>
                    <a:p>
                      <a:pPr indent="0" marL="0">
                        <a:buNone/>
                      </a:pPr>
                      <a:r>
                        <a:rPr lang="en-US" sz="1500" b="1" dirty="0">
                          <a:solidFill>
                            <a:srgbClr val="1C1B19"/>
                          </a:solidFill>
                          <a:latin typeface="Calibri" pitchFamily="34" charset="0"/>
                          <a:ea typeface="Calibri" pitchFamily="34" charset="-122"/>
                          <a:cs typeface="Calibri" pitchFamily="34" charset="-120"/>
                        </a:rPr>
                        <a:t>Módulo</a:t>
                      </a:r>
                      <a:endParaRPr lang="en-US" sz="1500" dirty="0">
                        <a:latin typeface="Calibri" charset="0"/>
                        <a:ea typeface="Calibri" charset="0"/>
                        <a:cs typeface="Calibri" charset="0"/>
                      </a:endParaRPr>
                    </a:p>
                  </a:txBody>
                  <a:tcPr marL="76200" marR="76200" marT="50800" marB="50800" anchor="ctr">
                    <a:lnL w="0" cap="flat" cmpd="sng" algn="ctr">
                      <a:noFill/>
                    </a:lnL>
                    <a:lnR w="0" cap="flat" cmpd="sng" algn="ctr">
                      <a:noFill/>
                    </a:lnR>
                    <a:lnT w="19050" cap="flat" cmpd="sng" algn="ctr">
                      <a:solidFill>
                        <a:srgbClr val="1C1B19"/>
                      </a:solidFill>
                      <a:prstDash val="solid"/>
                      <a:round/>
                      <a:headEnd type="none" w="med" len="med"/>
                      <a:tailEnd type="none" w="med" len="med"/>
                    </a:lnT>
                    <a:lnB w="9525" cap="flat" cmpd="sng" algn="ctr">
                      <a:solidFill>
                        <a:srgbClr val="1C1B19"/>
                      </a:solidFill>
                      <a:prstDash val="solid"/>
                      <a:round/>
                      <a:headEnd type="none" w="med" len="med"/>
                      <a:tailEnd type="none" w="med" len="med"/>
                    </a:lnB>
                  </a:tcPr>
                </a:tc>
                <a:tc>
                  <a:txBody>
                    <a:bodyPr/>
                    <a:lstStyle/>
                    <a:p>
                      <a:pPr indent="0" marL="0">
                        <a:buNone/>
                      </a:pPr>
                      <a:r>
                        <a:rPr lang="en-US" sz="1500" b="1" dirty="0">
                          <a:solidFill>
                            <a:srgbClr val="1C1B19"/>
                          </a:solidFill>
                          <a:latin typeface="Calibri" pitchFamily="34" charset="0"/>
                          <a:ea typeface="Calibri" pitchFamily="34" charset="-122"/>
                          <a:cs typeface="Calibri" pitchFamily="34" charset="-120"/>
                        </a:rPr>
                        <a:t>Pantalla</a:t>
                      </a:r>
                      <a:endParaRPr lang="en-US" sz="1500" dirty="0">
                        <a:latin typeface="Calibri" charset="0"/>
                        <a:ea typeface="Calibri" charset="0"/>
                        <a:cs typeface="Calibri" charset="0"/>
                      </a:endParaRPr>
                    </a:p>
                  </a:txBody>
                  <a:tcPr marL="76200" marR="76200" marT="50800" marB="50800" anchor="ctr">
                    <a:lnL w="0" cap="flat" cmpd="sng" algn="ctr">
                      <a:noFill/>
                    </a:lnL>
                    <a:lnR w="0" cap="flat" cmpd="sng" algn="ctr">
                      <a:noFill/>
                    </a:lnR>
                    <a:lnT w="19050" cap="flat" cmpd="sng" algn="ctr">
                      <a:solidFill>
                        <a:srgbClr val="1C1B19"/>
                      </a:solidFill>
                      <a:prstDash val="solid"/>
                      <a:round/>
                      <a:headEnd type="none" w="med" len="med"/>
                      <a:tailEnd type="none" w="med" len="med"/>
                    </a:lnT>
                    <a:lnB w="9525" cap="flat" cmpd="sng" algn="ctr">
                      <a:solidFill>
                        <a:srgbClr val="1C1B19"/>
                      </a:solidFill>
                      <a:prstDash val="solid"/>
                      <a:round/>
                      <a:headEnd type="none" w="med" len="med"/>
                      <a:tailEnd type="none" w="med" len="med"/>
                    </a:lnB>
                  </a:tcPr>
                </a:tc>
              </a:tr>
              <a:tr h="411480">
                <a:tc>
                  <a:txBody>
                    <a:bodyPr/>
                    <a:lstStyle/>
                    <a:p>
                      <a:pPr indent="0" marL="0">
                        <a:buNone/>
                      </a:pPr>
                      <a:r>
                        <a:rPr lang="en-US" sz="1500" b="1" dirty="0">
                          <a:solidFill>
                            <a:srgbClr val="1C1B19"/>
                          </a:solidFill>
                          <a:latin typeface="Calibri" pitchFamily="34" charset="0"/>
                          <a:ea typeface="Calibri" pitchFamily="34" charset="-122"/>
                          <a:cs typeface="Calibri" pitchFamily="34" charset="-120"/>
                        </a:rPr>
                        <a:t>RF-003 Niveles</a:t>
                      </a:r>
                      <a:endParaRPr lang="en-US" sz="1500" dirty="0">
                        <a:latin typeface="Calibri" charset="0"/>
                        <a:ea typeface="Calibri" charset="0"/>
                        <a:cs typeface="Calibri"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D9D6CF"/>
                      </a:solidFill>
                      <a:prstDash val="solid"/>
                      <a:round/>
                      <a:headEnd type="none" w="med" len="med"/>
                      <a:tailEnd type="none" w="med" len="med"/>
                    </a:lnB>
                  </a:tcPr>
                </a:tc>
                <a:tc>
                  <a:txBody>
                    <a:bodyPr/>
                    <a:lstStyle/>
                    <a:p>
                      <a:pPr indent="0" marL="0">
                        <a:buNone/>
                      </a:pPr>
                      <a:r>
                        <a:rPr lang="en-US" sz="1500" dirty="0">
                          <a:solidFill>
                            <a:srgbClr val="1C1B19"/>
                          </a:solidFill>
                          <a:latin typeface="Calibri" pitchFamily="34" charset="0"/>
                          <a:ea typeface="Calibri" pitchFamily="34" charset="-122"/>
                          <a:cs typeface="Calibri" pitchFamily="34" charset="-120"/>
                        </a:rPr>
                        <a:t>CU-03</a:t>
                      </a:r>
                      <a:endParaRPr lang="en-US" sz="1500" dirty="0">
                        <a:latin typeface="Calibri" charset="0"/>
                        <a:ea typeface="Calibri" charset="0"/>
                        <a:cs typeface="Calibri"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D9D6CF"/>
                      </a:solidFill>
                      <a:prstDash val="solid"/>
                      <a:round/>
                      <a:headEnd type="none" w="med" len="med"/>
                      <a:tailEnd type="none" w="med" len="med"/>
                    </a:lnB>
                  </a:tcPr>
                </a:tc>
                <a:tc>
                  <a:txBody>
                    <a:bodyPr/>
                    <a:lstStyle/>
                    <a:p>
                      <a:pPr indent="0" marL="0">
                        <a:buNone/>
                      </a:pPr>
                      <a:r>
                        <a:rPr lang="en-US" sz="1500" dirty="0">
                          <a:solidFill>
                            <a:srgbClr val="1C1B19"/>
                          </a:solidFill>
                          <a:latin typeface="Calibri" pitchFamily="34" charset="0"/>
                          <a:ea typeface="Calibri" pitchFamily="34" charset="-122"/>
                          <a:cs typeface="Calibri" pitchFamily="34" charset="-120"/>
                        </a:rPr>
                        <a:t>NIVEL, PROGRESO_NIVEL</a:t>
                      </a:r>
                      <a:endParaRPr lang="en-US" sz="1500" dirty="0">
                        <a:latin typeface="Calibri" charset="0"/>
                        <a:ea typeface="Calibri" charset="0"/>
                        <a:cs typeface="Calibri"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D9D6CF"/>
                      </a:solidFill>
                      <a:prstDash val="solid"/>
                      <a:round/>
                      <a:headEnd type="none" w="med" len="med"/>
                      <a:tailEnd type="none" w="med" len="med"/>
                    </a:lnB>
                  </a:tcPr>
                </a:tc>
                <a:tc>
                  <a:txBody>
                    <a:bodyPr/>
                    <a:lstStyle/>
                    <a:p>
                      <a:pPr indent="0" marL="0">
                        <a:buNone/>
                      </a:pPr>
                      <a:r>
                        <a:rPr lang="en-US" sz="1500" dirty="0">
                          <a:solidFill>
                            <a:srgbClr val="1C1B19"/>
                          </a:solidFill>
                          <a:latin typeface="Calibri" pitchFamily="34" charset="0"/>
                          <a:ea typeface="Calibri" pitchFamily="34" charset="-122"/>
                          <a:cs typeface="Calibri" pitchFamily="34" charset="-120"/>
                        </a:rPr>
                        <a:t>Progresión y gamificación</a:t>
                      </a:r>
                      <a:endParaRPr lang="en-US" sz="1500" dirty="0">
                        <a:latin typeface="Calibri" charset="0"/>
                        <a:ea typeface="Calibri" charset="0"/>
                        <a:cs typeface="Calibri"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D9D6CF"/>
                      </a:solidFill>
                      <a:prstDash val="solid"/>
                      <a:round/>
                      <a:headEnd type="none" w="med" len="med"/>
                      <a:tailEnd type="none" w="med" len="med"/>
                    </a:lnB>
                  </a:tcPr>
                </a:tc>
                <a:tc>
                  <a:txBody>
                    <a:bodyPr/>
                    <a:lstStyle/>
                    <a:p>
                      <a:pPr indent="0" marL="0">
                        <a:buNone/>
                      </a:pPr>
                      <a:r>
                        <a:rPr lang="en-US" sz="1500" dirty="0">
                          <a:solidFill>
                            <a:srgbClr val="1C1B19"/>
                          </a:solidFill>
                          <a:latin typeface="Calibri" pitchFamily="34" charset="0"/>
                          <a:ea typeface="Calibri" pitchFamily="34" charset="-122"/>
                          <a:cs typeface="Calibri" pitchFamily="34" charset="-120"/>
                        </a:rPr>
                        <a:t>Mapa de niveles</a:t>
                      </a:r>
                      <a:endParaRPr lang="en-US" sz="1500" dirty="0">
                        <a:latin typeface="Calibri" charset="0"/>
                        <a:ea typeface="Calibri" charset="0"/>
                        <a:cs typeface="Calibri"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D9D6CF"/>
                      </a:solidFill>
                      <a:prstDash val="solid"/>
                      <a:round/>
                      <a:headEnd type="none" w="med" len="med"/>
                      <a:tailEnd type="none" w="med" len="med"/>
                    </a:lnB>
                  </a:tcPr>
                </a:tc>
              </a:tr>
              <a:tr h="411480">
                <a:tc>
                  <a:txBody>
                    <a:bodyPr/>
                    <a:lstStyle/>
                    <a:p>
                      <a:pPr indent="0" marL="0">
                        <a:buNone/>
                      </a:pPr>
                      <a:r>
                        <a:rPr lang="en-US" sz="1500" b="1" dirty="0">
                          <a:solidFill>
                            <a:srgbClr val="1C1B19"/>
                          </a:solidFill>
                          <a:latin typeface="Calibri" pitchFamily="34" charset="0"/>
                          <a:ea typeface="Calibri" pitchFamily="34" charset="-122"/>
                          <a:cs typeface="Calibri" pitchFamily="34" charset="-120"/>
                        </a:rPr>
                        <a:t>RF-005 Evaluación IA</a:t>
                      </a:r>
                      <a:endParaRPr lang="en-US" sz="1500" dirty="0">
                        <a:latin typeface="Calibri" charset="0"/>
                        <a:ea typeface="Calibri" charset="0"/>
                        <a:cs typeface="Calibri"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D9D6CF"/>
                      </a:solidFill>
                      <a:prstDash val="solid"/>
                      <a:round/>
                      <a:headEnd type="none" w="med" len="med"/>
                      <a:tailEnd type="none" w="med" len="med"/>
                    </a:lnB>
                  </a:tcPr>
                </a:tc>
                <a:tc>
                  <a:txBody>
                    <a:bodyPr/>
                    <a:lstStyle/>
                    <a:p>
                      <a:pPr indent="0" marL="0">
                        <a:buNone/>
                      </a:pPr>
                      <a:r>
                        <a:rPr lang="en-US" sz="1500" dirty="0">
                          <a:solidFill>
                            <a:srgbClr val="1C1B19"/>
                          </a:solidFill>
                          <a:latin typeface="Calibri" pitchFamily="34" charset="0"/>
                          <a:ea typeface="Calibri" pitchFamily="34" charset="-122"/>
                          <a:cs typeface="Calibri" pitchFamily="34" charset="-120"/>
                        </a:rPr>
                        <a:t>CU-05</a:t>
                      </a:r>
                      <a:endParaRPr lang="en-US" sz="1500" dirty="0">
                        <a:latin typeface="Calibri" charset="0"/>
                        <a:ea typeface="Calibri" charset="0"/>
                        <a:cs typeface="Calibri"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D9D6CF"/>
                      </a:solidFill>
                      <a:prstDash val="solid"/>
                      <a:round/>
                      <a:headEnd type="none" w="med" len="med"/>
                      <a:tailEnd type="none" w="med" len="med"/>
                    </a:lnB>
                  </a:tcPr>
                </a:tc>
                <a:tc>
                  <a:txBody>
                    <a:bodyPr/>
                    <a:lstStyle/>
                    <a:p>
                      <a:pPr indent="0" marL="0">
                        <a:buNone/>
                      </a:pPr>
                      <a:r>
                        <a:rPr lang="en-US" sz="1500" dirty="0">
                          <a:solidFill>
                            <a:srgbClr val="1C1B19"/>
                          </a:solidFill>
                          <a:latin typeface="Calibri" pitchFamily="34" charset="0"/>
                          <a:ea typeface="Calibri" pitchFamily="34" charset="-122"/>
                          <a:cs typeface="Calibri" pitchFamily="34" charset="-120"/>
                        </a:rPr>
                        <a:t>Evaluation, Question, DeterministicAIEngine</a:t>
                      </a:r>
                      <a:endParaRPr lang="en-US" sz="1500" dirty="0">
                        <a:latin typeface="Calibri" charset="0"/>
                        <a:ea typeface="Calibri" charset="0"/>
                        <a:cs typeface="Calibri"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D9D6CF"/>
                      </a:solidFill>
                      <a:prstDash val="solid"/>
                      <a:round/>
                      <a:headEnd type="none" w="med" len="med"/>
                      <a:tailEnd type="none" w="med" len="med"/>
                    </a:lnB>
                  </a:tcPr>
                </a:tc>
                <a:tc>
                  <a:txBody>
                    <a:bodyPr/>
                    <a:lstStyle/>
                    <a:p>
                      <a:pPr indent="0" marL="0">
                        <a:buNone/>
                      </a:pPr>
                      <a:r>
                        <a:rPr lang="en-US" sz="1500" dirty="0">
                          <a:solidFill>
                            <a:srgbClr val="1C1B19"/>
                          </a:solidFill>
                          <a:latin typeface="Calibri" pitchFamily="34" charset="0"/>
                          <a:ea typeface="Calibri" pitchFamily="34" charset="-122"/>
                          <a:cs typeface="Calibri" pitchFamily="34" charset="-120"/>
                        </a:rPr>
                        <a:t>Motor de IA determinista</a:t>
                      </a:r>
                      <a:endParaRPr lang="en-US" sz="1500" dirty="0">
                        <a:latin typeface="Calibri" charset="0"/>
                        <a:ea typeface="Calibri" charset="0"/>
                        <a:cs typeface="Calibri"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D9D6CF"/>
                      </a:solidFill>
                      <a:prstDash val="solid"/>
                      <a:round/>
                      <a:headEnd type="none" w="med" len="med"/>
                      <a:tailEnd type="none" w="med" len="med"/>
                    </a:lnB>
                  </a:tcPr>
                </a:tc>
                <a:tc>
                  <a:txBody>
                    <a:bodyPr/>
                    <a:lstStyle/>
                    <a:p>
                      <a:pPr indent="0" marL="0">
                        <a:buNone/>
                      </a:pPr>
                      <a:r>
                        <a:rPr lang="en-US" sz="1500" dirty="0">
                          <a:solidFill>
                            <a:srgbClr val="1C1B19"/>
                          </a:solidFill>
                          <a:latin typeface="Calibri" pitchFamily="34" charset="0"/>
                          <a:ea typeface="Calibri" pitchFamily="34" charset="-122"/>
                          <a:cs typeface="Calibri" pitchFamily="34" charset="-120"/>
                        </a:rPr>
                        <a:t>Evaluación</a:t>
                      </a:r>
                      <a:endParaRPr lang="en-US" sz="1500" dirty="0">
                        <a:latin typeface="Calibri" charset="0"/>
                        <a:ea typeface="Calibri" charset="0"/>
                        <a:cs typeface="Calibri"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D9D6CF"/>
                      </a:solidFill>
                      <a:prstDash val="solid"/>
                      <a:round/>
                      <a:headEnd type="none" w="med" len="med"/>
                      <a:tailEnd type="none" w="med" len="med"/>
                    </a:lnB>
                  </a:tcPr>
                </a:tc>
              </a:tr>
              <a:tr h="411480">
                <a:tc>
                  <a:txBody>
                    <a:bodyPr/>
                    <a:lstStyle/>
                    <a:p>
                      <a:pPr indent="0" marL="0">
                        <a:buNone/>
                      </a:pPr>
                      <a:r>
                        <a:rPr lang="en-US" sz="1500" b="1" dirty="0">
                          <a:solidFill>
                            <a:srgbClr val="1C1B19"/>
                          </a:solidFill>
                          <a:latin typeface="Calibri" pitchFamily="34" charset="0"/>
                          <a:ea typeface="Calibri" pitchFamily="34" charset="-122"/>
                          <a:cs typeface="Calibri" pitchFamily="34" charset="-120"/>
                        </a:rPr>
                        <a:t>RF-009 Sin conexión</a:t>
                      </a:r>
                      <a:endParaRPr lang="en-US" sz="1500" dirty="0">
                        <a:latin typeface="Calibri" charset="0"/>
                        <a:ea typeface="Calibri" charset="0"/>
                        <a:cs typeface="Calibri" charset="0"/>
                      </a:endParaRPr>
                    </a:p>
                  </a:txBody>
                  <a:tcPr marL="76200" marR="76200" marT="50800" marB="50800" anchor="ctr">
                    <a:lnL w="0" cap="flat" cmpd="sng" algn="ctr">
                      <a:noFill/>
                    </a:lnL>
                    <a:lnR w="0" cap="flat" cmpd="sng" algn="ctr">
                      <a:noFill/>
                    </a:lnR>
                    <a:lnT w="0" cap="flat" cmpd="sng" algn="ctr">
                      <a:noFill/>
                    </a:lnT>
                    <a:lnB w="19050" cap="flat" cmpd="sng" algn="ctr">
                      <a:solidFill>
                        <a:srgbClr val="1C1B19"/>
                      </a:solidFill>
                      <a:prstDash val="solid"/>
                      <a:round/>
                      <a:headEnd type="none" w="med" len="med"/>
                      <a:tailEnd type="none" w="med" len="med"/>
                    </a:lnB>
                  </a:tcPr>
                </a:tc>
                <a:tc>
                  <a:txBody>
                    <a:bodyPr/>
                    <a:lstStyle/>
                    <a:p>
                      <a:pPr indent="0" marL="0">
                        <a:buNone/>
                      </a:pPr>
                      <a:r>
                        <a:rPr lang="en-US" sz="1500" dirty="0">
                          <a:solidFill>
                            <a:srgbClr val="1C1B19"/>
                          </a:solidFill>
                          <a:latin typeface="Calibri" pitchFamily="34" charset="0"/>
                          <a:ea typeface="Calibri" pitchFamily="34" charset="-122"/>
                          <a:cs typeface="Calibri" pitchFamily="34" charset="-120"/>
                        </a:rPr>
                        <a:t>CU-09</a:t>
                      </a:r>
                      <a:endParaRPr lang="en-US" sz="1500" dirty="0">
                        <a:latin typeface="Calibri" charset="0"/>
                        <a:ea typeface="Calibri" charset="0"/>
                        <a:cs typeface="Calibri" charset="0"/>
                      </a:endParaRPr>
                    </a:p>
                  </a:txBody>
                  <a:tcPr marL="76200" marR="76200" marT="50800" marB="50800" anchor="ctr">
                    <a:lnL w="0" cap="flat" cmpd="sng" algn="ctr">
                      <a:noFill/>
                    </a:lnL>
                    <a:lnR w="0" cap="flat" cmpd="sng" algn="ctr">
                      <a:noFill/>
                    </a:lnR>
                    <a:lnT w="0" cap="flat" cmpd="sng" algn="ctr">
                      <a:noFill/>
                    </a:lnT>
                    <a:lnB w="19050" cap="flat" cmpd="sng" algn="ctr">
                      <a:solidFill>
                        <a:srgbClr val="1C1B19"/>
                      </a:solidFill>
                      <a:prstDash val="solid"/>
                      <a:round/>
                      <a:headEnd type="none" w="med" len="med"/>
                      <a:tailEnd type="none" w="med" len="med"/>
                    </a:lnB>
                  </a:tcPr>
                </a:tc>
                <a:tc>
                  <a:txBody>
                    <a:bodyPr/>
                    <a:lstStyle/>
                    <a:p>
                      <a:pPr indent="0" marL="0">
                        <a:buNone/>
                      </a:pPr>
                      <a:r>
                        <a:rPr lang="en-US" sz="1500" dirty="0">
                          <a:solidFill>
                            <a:srgbClr val="1C1B19"/>
                          </a:solidFill>
                          <a:latin typeface="Calibri" pitchFamily="34" charset="0"/>
                          <a:ea typeface="Calibri" pitchFamily="34" charset="-122"/>
                          <a:cs typeface="Calibri" pitchFamily="34" charset="-120"/>
                        </a:rPr>
                        <a:t>OfflineFirstEvaluationRepository</a:t>
                      </a:r>
                      <a:endParaRPr lang="en-US" sz="1500" dirty="0">
                        <a:latin typeface="Calibri" charset="0"/>
                        <a:ea typeface="Calibri" charset="0"/>
                        <a:cs typeface="Calibri" charset="0"/>
                      </a:endParaRPr>
                    </a:p>
                  </a:txBody>
                  <a:tcPr marL="76200" marR="76200" marT="50800" marB="50800" anchor="ctr">
                    <a:lnL w="0" cap="flat" cmpd="sng" algn="ctr">
                      <a:noFill/>
                    </a:lnL>
                    <a:lnR w="0" cap="flat" cmpd="sng" algn="ctr">
                      <a:noFill/>
                    </a:lnR>
                    <a:lnT w="0" cap="flat" cmpd="sng" algn="ctr">
                      <a:noFill/>
                    </a:lnT>
                    <a:lnB w="19050" cap="flat" cmpd="sng" algn="ctr">
                      <a:solidFill>
                        <a:srgbClr val="1C1B19"/>
                      </a:solidFill>
                      <a:prstDash val="solid"/>
                      <a:round/>
                      <a:headEnd type="none" w="med" len="med"/>
                      <a:tailEnd type="none" w="med" len="med"/>
                    </a:lnB>
                  </a:tcPr>
                </a:tc>
                <a:tc>
                  <a:txBody>
                    <a:bodyPr/>
                    <a:lstStyle/>
                    <a:p>
                      <a:pPr indent="0" marL="0">
                        <a:buNone/>
                      </a:pPr>
                      <a:r>
                        <a:rPr lang="en-US" sz="1500" dirty="0">
                          <a:solidFill>
                            <a:srgbClr val="1C1B19"/>
                          </a:solidFill>
                          <a:latin typeface="Calibri" pitchFamily="34" charset="0"/>
                          <a:ea typeface="Calibri" pitchFamily="34" charset="-122"/>
                          <a:cs typeface="Calibri" pitchFamily="34" charset="-120"/>
                        </a:rPr>
                        <a:t>Offline y Background Sync</a:t>
                      </a:r>
                      <a:endParaRPr lang="en-US" sz="1500" dirty="0">
                        <a:latin typeface="Calibri" charset="0"/>
                        <a:ea typeface="Calibri" charset="0"/>
                        <a:cs typeface="Calibri" charset="0"/>
                      </a:endParaRPr>
                    </a:p>
                  </a:txBody>
                  <a:tcPr marL="76200" marR="76200" marT="50800" marB="50800" anchor="ctr">
                    <a:lnL w="0" cap="flat" cmpd="sng" algn="ctr">
                      <a:noFill/>
                    </a:lnL>
                    <a:lnR w="0" cap="flat" cmpd="sng" algn="ctr">
                      <a:noFill/>
                    </a:lnR>
                    <a:lnT w="0" cap="flat" cmpd="sng" algn="ctr">
                      <a:noFill/>
                    </a:lnT>
                    <a:lnB w="19050" cap="flat" cmpd="sng" algn="ctr">
                      <a:solidFill>
                        <a:srgbClr val="1C1B19"/>
                      </a:solidFill>
                      <a:prstDash val="solid"/>
                      <a:round/>
                      <a:headEnd type="none" w="med" len="med"/>
                      <a:tailEnd type="none" w="med" len="med"/>
                    </a:lnB>
                  </a:tcPr>
                </a:tc>
                <a:tc>
                  <a:txBody>
                    <a:bodyPr/>
                    <a:lstStyle/>
                    <a:p>
                      <a:pPr indent="0" marL="0">
                        <a:buNone/>
                      </a:pPr>
                      <a:r>
                        <a:rPr lang="en-US" sz="1500" dirty="0">
                          <a:solidFill>
                            <a:srgbClr val="1C1B19"/>
                          </a:solidFill>
                          <a:latin typeface="Calibri" pitchFamily="34" charset="0"/>
                          <a:ea typeface="Calibri" pitchFamily="34" charset="-122"/>
                          <a:cs typeface="Calibri" pitchFamily="34" charset="-120"/>
                        </a:rPr>
                        <a:t>Todas</a:t>
                      </a:r>
                      <a:endParaRPr lang="en-US" sz="1500" dirty="0">
                        <a:latin typeface="Calibri" charset="0"/>
                        <a:ea typeface="Calibri" charset="0"/>
                        <a:cs typeface="Calibri" charset="0"/>
                      </a:endParaRPr>
                    </a:p>
                  </a:txBody>
                  <a:tcPr marL="76200" marR="76200" marT="50800" marB="50800" anchor="ctr">
                    <a:lnL w="0" cap="flat" cmpd="sng" algn="ctr">
                      <a:noFill/>
                    </a:lnL>
                    <a:lnR w="0" cap="flat" cmpd="sng" algn="ctr">
                      <a:noFill/>
                    </a:lnR>
                    <a:lnT w="0" cap="flat" cmpd="sng" algn="ctr">
                      <a:noFill/>
                    </a:lnT>
                    <a:lnB w="19050" cap="flat" cmpd="sng" algn="ctr">
                      <a:solidFill>
                        <a:srgbClr val="1C1B19"/>
                      </a:solidFill>
                      <a:prstDash val="solid"/>
                      <a:round/>
                      <a:headEnd type="none" w="med" len="med"/>
                      <a:tailEnd type="none" w="med" len="med"/>
                    </a:lnB>
                  </a:tcPr>
                </a:tc>
              </a:tr>
            </a:tbl>
          </a:graphicData>
        </a:graphic>
      </p:graphicFrame>
      <p:sp>
        <p:nvSpPr>
          <p:cNvPr id="5" name="Text 2"/>
          <p:cNvSpPr txBox="1"/>
          <p:nvPr/>
        </p:nvSpPr>
        <p:spPr>
          <a:xfrm>
            <a:off x="548640" y="3310128"/>
            <a:ext cx="7315200" cy="228600"/>
          </a:xfrm>
          <a:prstGeom prst="rect">
            <a:avLst/>
          </a:prstGeom>
          <a:noFill/>
          <a:ln/>
        </p:spPr>
        <p:txBody>
          <a:bodyPr wrap="square" lIns="0" tIns="0" rIns="0" bIns="0" rtlCol="0" anchor="ctr"/>
          <a:lstStyle/>
          <a:p>
            <a:pPr indent="0" marL="0">
              <a:buNone/>
            </a:pPr>
            <a:r>
              <a:rPr lang="en-US" sz="1000" i="1" dirty="0">
                <a:solidFill>
                  <a:srgbClr val="5A5853"/>
                </a:solidFill>
                <a:latin typeface="Calibri" pitchFamily="34" charset="0"/>
                <a:ea typeface="Calibri" pitchFamily="34" charset="-122"/>
                <a:cs typeface="Calibri" pitchFamily="34" charset="-120"/>
              </a:rPr>
              <a:t>Extracto de la Tabla 7 del álbum (13 requisitos trazados)</a:t>
            </a:r>
            <a:endParaRPr lang="en-US" sz="1000" dirty="0"/>
          </a:p>
        </p:txBody>
      </p:sp>
      <p:sp>
        <p:nvSpPr>
          <p:cNvPr id="6" name="Shape 3"/>
          <p:cNvSpPr/>
          <p:nvPr/>
        </p:nvSpPr>
        <p:spPr>
          <a:xfrm>
            <a:off x="548640" y="3840480"/>
            <a:ext cx="6949440" cy="1234440"/>
          </a:xfrm>
          <a:prstGeom prst="roundRect">
            <a:avLst>
              <a:gd name="adj" fmla="val 4444"/>
            </a:avLst>
          </a:prstGeom>
          <a:solidFill>
            <a:srgbClr val="F7EFEB"/>
          </a:solidFill>
          <a:ln w="12700">
            <a:solidFill>
              <a:srgbClr val="F7EFEB"/>
            </a:solidFill>
            <a:prstDash val="solid"/>
          </a:ln>
        </p:spPr>
      </p:sp>
      <p:sp>
        <p:nvSpPr>
          <p:cNvPr id="7" name="Text 4"/>
          <p:cNvSpPr txBox="1"/>
          <p:nvPr/>
        </p:nvSpPr>
        <p:spPr>
          <a:xfrm>
            <a:off x="777240" y="3931920"/>
            <a:ext cx="6492240" cy="1051560"/>
          </a:xfrm>
          <a:prstGeom prst="rect">
            <a:avLst/>
          </a:prstGeom>
          <a:noFill/>
          <a:ln/>
        </p:spPr>
        <p:txBody>
          <a:bodyPr wrap="square" lIns="0" tIns="0" rIns="0" bIns="0" rtlCol="0" anchor="ctr"/>
          <a:lstStyle/>
          <a:p>
            <a:pPr indent="0" marL="0">
              <a:spcAft>
                <a:spcPts val="400"/>
              </a:spcAft>
              <a:buNone/>
            </a:pPr>
            <a:r>
              <a:rPr lang="en-US" sz="1200" b="1" spc="200" kern="0" dirty="0">
                <a:solidFill>
                  <a:srgbClr val="A2462B"/>
                </a:solidFill>
                <a:latin typeface="Calibri" pitchFamily="34" charset="0"/>
                <a:ea typeface="Calibri" pitchFamily="34" charset="-122"/>
                <a:cs typeface="Calibri" pitchFamily="34" charset="-120"/>
              </a:rPr>
              <a:t>AUDITORÍA AUD-09</a:t>
            </a:r>
            <a:endParaRPr lang="en-US" sz="1200" dirty="0"/>
          </a:p>
          <a:p>
            <a:pPr indent="0" marL="0">
              <a:spcAft>
                <a:spcPts val="400"/>
              </a:spcAft>
              <a:buNone/>
            </a:pPr>
            <a:r>
              <a:rPr lang="en-US" sz="1600" dirty="0">
                <a:solidFill>
                  <a:srgbClr val="1C1B19"/>
                </a:solidFill>
                <a:latin typeface="Calibri" pitchFamily="34" charset="0"/>
                <a:ea typeface="Calibri" pitchFamily="34" charset="-122"/>
                <a:cs typeface="Calibri" pitchFamily="34" charset="-120"/>
              </a:rPr>
              <a:t>La IA propuso calificar en la nube; el equipo devolvió el cálculo al dispositivo para que funcione sin conexión.</a:t>
            </a:r>
            <a:endParaRPr lang="en-US" sz="1200" dirty="0"/>
          </a:p>
        </p:txBody>
      </p:sp>
      <p:sp>
        <p:nvSpPr>
          <p:cNvPr id="8" name="Text 5"/>
          <p:cNvSpPr txBox="1"/>
          <p:nvPr/>
        </p:nvSpPr>
        <p:spPr>
          <a:xfrm>
            <a:off x="548640" y="5349240"/>
            <a:ext cx="6949440" cy="548640"/>
          </a:xfrm>
          <a:prstGeom prst="rect">
            <a:avLst/>
          </a:prstGeom>
          <a:noFill/>
          <a:ln/>
        </p:spPr>
        <p:txBody>
          <a:bodyPr wrap="square" lIns="0" tIns="0" rIns="0" bIns="0" rtlCol="0" anchor="ctr"/>
          <a:lstStyle/>
          <a:p>
            <a:pPr indent="0" marL="0">
              <a:buNone/>
            </a:pPr>
            <a:r>
              <a:rPr lang="en-US" sz="1800" dirty="0">
                <a:solidFill>
                  <a:srgbClr val="1C1B19"/>
                </a:solidFill>
                <a:latin typeface="Calibri" pitchFamily="34" charset="0"/>
                <a:ea typeface="Calibri" pitchFamily="34" charset="-122"/>
                <a:cs typeface="Calibri" pitchFamily="34" charset="-120"/>
              </a:rPr>
              <a:t>El diseño está listo para implementarse y la autoría humana queda documentada.</a:t>
            </a:r>
            <a:endParaRPr lang="en-US" sz="1800" dirty="0"/>
          </a:p>
        </p:txBody>
      </p:sp>
      <p:sp>
        <p:nvSpPr>
          <p:cNvPr id="9" name="Text 6"/>
          <p:cNvSpPr txBox="1"/>
          <p:nvPr/>
        </p:nvSpPr>
        <p:spPr>
          <a:xfrm>
            <a:off x="7955280" y="3931920"/>
            <a:ext cx="3687775" cy="1097280"/>
          </a:xfrm>
          <a:prstGeom prst="rect">
            <a:avLst/>
          </a:prstGeom>
          <a:noFill/>
          <a:ln/>
        </p:spPr>
        <p:txBody>
          <a:bodyPr wrap="square" lIns="0" tIns="0" rIns="0" bIns="0" rtlCol="0" anchor="ctr"/>
          <a:lstStyle/>
          <a:p>
            <a:pPr algn="r" indent="0" marL="0">
              <a:buNone/>
            </a:pPr>
            <a:r>
              <a:rPr lang="en-US" sz="4400" b="1" dirty="0">
                <a:solidFill>
                  <a:srgbClr val="A2462B"/>
                </a:solidFill>
                <a:latin typeface="Cambria" pitchFamily="34" charset="0"/>
                <a:ea typeface="Cambria" pitchFamily="34" charset="-122"/>
                <a:cs typeface="Cambria" pitchFamily="34" charset="-120"/>
              </a:rPr>
              <a:t>¿Preguntas?</a:t>
            </a:r>
            <a:endParaRPr lang="en-US" sz="4400" dirty="0"/>
          </a:p>
        </p:txBody>
      </p:sp>
      <p:sp>
        <p:nvSpPr>
          <p:cNvPr id="10" name="Text 7"/>
          <p:cNvSpPr txBox="1"/>
          <p:nvPr/>
        </p:nvSpPr>
        <p:spPr>
          <a:xfrm>
            <a:off x="548640" y="6400800"/>
            <a:ext cx="5486400" cy="228600"/>
          </a:xfrm>
          <a:prstGeom prst="rect">
            <a:avLst/>
          </a:prstGeom>
          <a:noFill/>
          <a:ln/>
        </p:spPr>
        <p:txBody>
          <a:bodyPr wrap="square" lIns="0" tIns="0" rIns="0" bIns="0" rtlCol="0" anchor="ctr"/>
          <a:lstStyle/>
          <a:p>
            <a:pPr indent="0" marL="0">
              <a:buNone/>
            </a:pPr>
            <a:r>
              <a:rPr lang="en-US" sz="1000" dirty="0">
                <a:solidFill>
                  <a:srgbClr val="5A5853"/>
                </a:solidFill>
                <a:latin typeface="Calibri" pitchFamily="34" charset="0"/>
                <a:ea typeface="Calibri" pitchFamily="34" charset="-122"/>
                <a:cs typeface="Calibri" pitchFamily="34" charset="-120"/>
              </a:rPr>
              <a:t>YAPU · Álbum de Modelos UML, Bloque 3</a:t>
            </a:r>
            <a:endParaRPr lang="en-US" sz="1000" dirty="0"/>
          </a:p>
        </p:txBody>
      </p:sp>
      <p:sp>
        <p:nvSpPr>
          <p:cNvPr id="11" name="Text 8"/>
          <p:cNvSpPr txBox="1"/>
          <p:nvPr/>
        </p:nvSpPr>
        <p:spPr>
          <a:xfrm>
            <a:off x="10271455" y="6400800"/>
            <a:ext cx="1371600" cy="228600"/>
          </a:xfrm>
          <a:prstGeom prst="rect">
            <a:avLst/>
          </a:prstGeom>
          <a:noFill/>
          <a:ln/>
        </p:spPr>
        <p:txBody>
          <a:bodyPr wrap="square" lIns="0" tIns="0" rIns="0" bIns="0" rtlCol="0" anchor="ctr"/>
          <a:lstStyle/>
          <a:p>
            <a:pPr algn="r" indent="0" marL="0">
              <a:buNone/>
            </a:pPr>
            <a:r>
              <a:rPr lang="en-US" sz="1000" dirty="0">
                <a:solidFill>
                  <a:srgbClr val="5A5853"/>
                </a:solidFill>
                <a:latin typeface="Calibri" pitchFamily="34" charset="0"/>
                <a:ea typeface="Calibri" pitchFamily="34" charset="-122"/>
                <a:cs typeface="Calibri" pitchFamily="34" charset="-120"/>
              </a:rPr>
              <a:t>7 / 7</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YAPU · Álbum de Modelos UML, Bloque 3</dc:title>
  <dc:subject>PptxGenJS Presentation</dc:subject>
  <dc:creator>Emmanuel Ponce Quiroga, Jhoel Álvaro Cruz Zurita, Luis Mario Rocha Vela</dc:creator>
  <cp:lastModifiedBy>Emmanuel Ponce Quiroga, Jhoel Álvaro Cruz Zurita, Luis Mario Rocha Vela</cp:lastModifiedBy>
  <cp:revision>1</cp:revision>
  <dcterms:created xsi:type="dcterms:W3CDTF">2026-09-28T21:28:48Z</dcterms:created>
  <dcterms:modified xsi:type="dcterms:W3CDTF">2026-09-28T21:28:48Z</dcterms:modified>
</cp:coreProperties>
</file>